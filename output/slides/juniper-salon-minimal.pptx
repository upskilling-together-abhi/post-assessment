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608"/>
    <p:restoredTop sz="94682"/>
  </p:normalViewPr>
  <p:slideViewPr>
    <p:cSldViewPr snapToGrid="0">
      <p:cViewPr varScale="1">
        <p:scale>
          <a:sx n="59" d="100"/>
          <a:sy n="59" d="100"/>
        </p:scale>
        <p:origin x="200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Lena and Carla. Source: CUSTOMER_CHAT.md. Today staff update Square, scan a Google Sheet and text clients manually, focusing on openings within 48 hours. In the Saturday incident, two clients accepted the same opening and both arrived. The goal is less follow-up and one clear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CUSTOMER_CHAT.md, public/app.js, src/matching.ts, src/workflows.ts and original slide 2. The staff table is an editable transcription of the source screenshot, in the same waitlist order. Eligibility matches service, time and required stylist. Same-day offers allow 15 minutes in the requested policy. A timely acceptance confirms immediately. The actual client screenshot shows the automated demonstration, which uses 10-second offers. Browser inbox simulates SMS. Maya declines, Alex times out and Jordan accepts in this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src/workflows.ts and evidence/temporal-saturday-history.jpg. The two outcomes are editable transcriptions of the actual Temporal reply results in the source deck, redesigned for legibility. Event 35 returns accepted:false,code:expired; event 42 returns accepted:true,code:confirmed. Execution juniper-opening-228c11eb-f8d9-4e53-866f-1bca5484750e. Maya’s late response remains in history. This replay is separate from the queue scenario on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README.md, src/workflows.ts, src/activities.ts, src/store.ts and evidence/temporal-saturday-timeline.jpg. The timeline crop enlarges the sequence of activities and timers without changing the recorded evidence. Its long final timer records late replies until appointment end; it is not an offer deadline. Temporal manages deadlines and recovery. After Worker downtime, advancement resumes when a Worker returns. No live Square, Sheets or SMS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CUSTOMER_CHAT.md, README.md, src/activities.ts and src/api.ts. One stylist for one week is a proposed scope, not an agreed commitment. Confirm real SMS delivery as well as costs. Next-day response timing is unspecified. Independent Square bookings could conflict until a real availability/booking integration exists. Authentication, secure links, real SMS, production hosting and operating costs remain outside this local prototype. No business impact has been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A70704-3F80-4053-B480-E1B2199944C2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6750" b="1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02C27"/>
                </a:solidFill>
                <a:latin typeface="Arial"/>
                <a:ea typeface="Arial"/>
                <a:cs typeface="Arial"/>
              </a:rPr>
              <a:t>Juniper Salon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74925D-DA41-4438-88CF-124468A9A7DF}"/>
              </a:ext>
            </a:extLst>
          </p:cNvPr>
          <p:cNvSpPr>
            <a:spLocks noGrp="1"/>
          </p:cNvSpPr>
          <p:nvPr/>
        </p:nvSpPr>
        <p:spPr>
          <a:xfrm>
            <a:off x="733425" y="3629025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0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3C6352"/>
                </a:solidFill>
                <a:latin typeface="Arial"/>
                <a:ea typeface="Arial"/>
                <a:cs typeface="Arial"/>
              </a:rPr>
              <a:t>Waitlist prototype</a:t>
            </a:r>
          </a:p>
        </p:txBody>
      </p:sp>
    </p:spTree>
    <p:extLst>
      <p:ext uri="{BB962C8B-B14F-4D97-AF65-F5344CB8AC3E}">
        <p14:creationId xmlns:p14="http://schemas.microsoft.com/office/powerpoint/2010/main" val="1083461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41074B-2B23-476D-AF6D-87632E09C44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C27"/>
                </a:solidFill>
                <a:latin typeface="Arial"/>
                <a:ea typeface="Arial"/>
                <a:cs typeface="Arial"/>
              </a:rPr>
              <a:t>One offer at a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A149E9-679B-478F-9ADE-19EDDE6F8E78}"/>
              </a:ext>
            </a:extLst>
          </p:cNvPr>
          <p:cNvSpPr>
            <a:spLocks noGrp="1"/>
          </p:cNvSpPr>
          <p:nvPr/>
        </p:nvSpPr>
        <p:spPr>
          <a:xfrm>
            <a:off x="685800" y="63722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Juniper Salon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2A9F0B-ABC4-4CA0-A87B-0EBA086E0022}"/>
              </a:ext>
            </a:extLst>
          </p:cNvPr>
          <p:cNvSpPr>
            <a:spLocks noGrp="1"/>
          </p:cNvSpPr>
          <p:nvPr/>
        </p:nvSpPr>
        <p:spPr>
          <a:xfrm>
            <a:off x="11029950" y="63722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1B841-968F-4610-9EC0-5E143BC41705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429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C6352"/>
                </a:solidFill>
                <a:latin typeface="Arial"/>
                <a:ea typeface="Arial"/>
                <a:cs typeface="Arial"/>
              </a:rPr>
              <a:t>Staff queue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685800" y="2238375"/>
          <a:ext cx="5572125" cy="26670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737B75"/>
                          </a:solidFill>
                          <a:latin typeface="Arial"/>
                          <a:ea typeface="Arial"/>
                          <a:cs typeface="Arial"/>
                        </a:rPr>
                        <a:t>Client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737B75"/>
                          </a:solidFill>
                          <a:latin typeface="Arial"/>
                          <a:ea typeface="Arial"/>
                          <a:cs typeface="Arial"/>
                        </a:rPr>
                        <a:t>Offer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C27"/>
                          </a:solidFill>
                          <a:latin typeface="Arial"/>
                          <a:ea typeface="Arial"/>
                          <a:cs typeface="Arial"/>
                        </a:rPr>
                        <a:t>Maya Patel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C27"/>
                          </a:solidFill>
                          <a:latin typeface="Arial"/>
                          <a:ea typeface="Arial"/>
                          <a:cs typeface="Arial"/>
                        </a:rPr>
                        <a:t>Declined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C27"/>
                          </a:solidFill>
                          <a:latin typeface="Arial"/>
                          <a:ea typeface="Arial"/>
                          <a:cs typeface="Arial"/>
                        </a:rPr>
                        <a:t>Alex Morgan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C27"/>
                          </a:solidFill>
                          <a:latin typeface="Arial"/>
                          <a:ea typeface="Arial"/>
                          <a:cs typeface="Arial"/>
                        </a:rPr>
                        <a:t>Expired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C6352"/>
                          </a:solidFill>
                          <a:latin typeface="Arial"/>
                          <a:ea typeface="Arial"/>
                          <a:cs typeface="Arial"/>
                        </a:rPr>
                        <a:t>Jordan Lee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C6352"/>
                          </a:solidFill>
                          <a:latin typeface="Arial"/>
                          <a:ea typeface="Arial"/>
                          <a:cs typeface="Arial"/>
                        </a:rPr>
                        <a:t>Confirmed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C27"/>
                          </a:solidFill>
                          <a:latin typeface="Arial"/>
                          <a:ea typeface="Arial"/>
                          <a:cs typeface="Arial"/>
                        </a:rPr>
                        <a:t>Sam Rivera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C27"/>
                          </a:solidFill>
                          <a:latin typeface="Arial"/>
                          <a:ea typeface="Arial"/>
                          <a:cs typeface="Arial"/>
                        </a:rPr>
                        <a:t>Not contacted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8BB3473-6722-4A28-A740-8173DD4EF031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5572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Earliest eligible client 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4E9849-F76A-4A17-9912-737999EFEFA2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55721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15 minutes to reply for same-day openings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4C110B-F418-419E-BB99-A68D4E39FBEB}"/>
              </a:ext>
            </a:extLst>
          </p:cNvPr>
          <p:cNvSpPr>
            <a:spLocks noGrp="1"/>
          </p:cNvSpPr>
          <p:nvPr/>
        </p:nvSpPr>
        <p:spPr>
          <a:xfrm>
            <a:off x="6981825" y="1600200"/>
            <a:ext cx="45243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C6352"/>
                </a:solidFill>
                <a:latin typeface="Arial"/>
                <a:ea typeface="Arial"/>
                <a:cs typeface="Arial"/>
              </a:rPr>
              <a:t>Client confirmation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88910" y="2076450"/>
            <a:ext cx="4710206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7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D5CC93-0446-41DA-BF94-22CCB73F934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C27"/>
                </a:solidFill>
                <a:latin typeface="Arial"/>
                <a:ea typeface="Arial"/>
                <a:cs typeface="Arial"/>
              </a:rPr>
              <a:t>Only Alex gets the opening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12A03-81B3-4B97-A3A5-0D399E21001C}"/>
              </a:ext>
            </a:extLst>
          </p:cNvPr>
          <p:cNvSpPr>
            <a:spLocks noGrp="1"/>
          </p:cNvSpPr>
          <p:nvPr/>
        </p:nvSpPr>
        <p:spPr>
          <a:xfrm>
            <a:off x="685800" y="63722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Juniper Salon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C3359D-8F03-48CD-BABB-9F7BF3424590}"/>
              </a:ext>
            </a:extLst>
          </p:cNvPr>
          <p:cNvSpPr>
            <a:spLocks noGrp="1"/>
          </p:cNvSpPr>
          <p:nvPr/>
        </p:nvSpPr>
        <p:spPr>
          <a:xfrm>
            <a:off x="11029950" y="63722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6AC577-6099-4950-8CFB-0DD48039F2D3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Maya’s offer expires. Alex receives the next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625F32-6B62-4585-8D76-8272344A3344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Maya replies late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AAFC3-D881-4AC6-B99A-3723042A1055}"/>
              </a:ext>
            </a:extLst>
          </p:cNvPr>
          <p:cNvSpPr>
            <a:spLocks noGrp="1"/>
          </p:cNvSpPr>
          <p:nvPr/>
        </p:nvSpPr>
        <p:spPr>
          <a:xfrm>
            <a:off x="7410450" y="2857500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Offer expired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7A6C4-816F-4177-AE18-5B9DD7917AA8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0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6352"/>
                </a:solidFill>
                <a:latin typeface="Arial"/>
                <a:ea typeface="Arial"/>
                <a:cs typeface="Arial"/>
              </a:rPr>
              <a:t>Alex accepts in 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C82E1D-A748-4C93-B460-441F52645C40}"/>
              </a:ext>
            </a:extLst>
          </p:cNvPr>
          <p:cNvSpPr>
            <a:spLocks noGrp="1"/>
          </p:cNvSpPr>
          <p:nvPr/>
        </p:nvSpPr>
        <p:spPr>
          <a:xfrm>
            <a:off x="7410450" y="4191000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0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6352"/>
                </a:solidFill>
                <a:latin typeface="Arial"/>
                <a:ea typeface="Arial"/>
                <a:cs typeface="Arial"/>
              </a:rPr>
              <a:t>Booking confirmed</a:t>
            </a:r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038600" y="3101748"/>
            <a:ext cx="2819400" cy="0"/>
          </a:xfrm>
          <a:prstGeom prst="straightConnector1">
            <a:avLst/>
          </a:prstGeom>
          <a:ln w="19050">
            <a:solidFill>
              <a:srgbClr val="737B75"/>
            </a:solidFill>
            <a:prstDash val="solid"/>
            <a:tailEnd type="arrow" w="med" len="med"/>
          </a:ln>
        </p:spPr>
      </p:cxn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4038600" y="4500563"/>
            <a:ext cx="2819400" cy="0"/>
          </a:xfrm>
          <a:prstGeom prst="straightConnector1">
            <a:avLst/>
          </a:prstGeom>
          <a:ln w="19050">
            <a:solidFill>
              <a:srgbClr val="3C6352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59482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AD2394-73F1-4F70-8352-DB0545791F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C27"/>
                </a:solidFill>
                <a:latin typeface="Arial"/>
                <a:ea typeface="Arial"/>
                <a:cs typeface="Arial"/>
              </a:rPr>
              <a:t>Temporal keeps the offer moving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64BF6-A6B8-4B48-97CA-B37B289A0641}"/>
              </a:ext>
            </a:extLst>
          </p:cNvPr>
          <p:cNvSpPr>
            <a:spLocks noGrp="1"/>
          </p:cNvSpPr>
          <p:nvPr/>
        </p:nvSpPr>
        <p:spPr>
          <a:xfrm>
            <a:off x="685800" y="63722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Juniper Salon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B24C5-86B0-4BA6-8266-AB8B6BA1F944}"/>
              </a:ext>
            </a:extLst>
          </p:cNvPr>
          <p:cNvSpPr>
            <a:spLocks noGrp="1"/>
          </p:cNvSpPr>
          <p:nvPr/>
        </p:nvSpPr>
        <p:spPr>
          <a:xfrm>
            <a:off x="11029950" y="63722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9AC336-AC09-4105-AA45-FE479C848987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C6352"/>
                </a:solidFill>
                <a:latin typeface="Arial"/>
                <a:ea typeface="Arial"/>
                <a:cs typeface="Arial"/>
              </a:rPr>
              <a:t>Wait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C462F-8433-4FE0-AD44-82930DE5311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519112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The deadline survives closing the browser.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9478B-FE8D-498C-996F-3A755F65F5D7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C6352"/>
                </a:solidFill>
                <a:latin typeface="Arial"/>
                <a:ea typeface="Arial"/>
                <a:cs typeface="Arial"/>
              </a:rPr>
              <a:t>Resume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A549E6-352F-4396-B1AA-9579F64F5A9F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519112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The workflow continues after a Worker restart.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A79188-7FEC-4897-9837-B36CFA7E32F1}"/>
              </a:ext>
            </a:extLst>
          </p:cNvPr>
          <p:cNvSpPr>
            <a:spLocks noGrp="1"/>
          </p:cNvSpPr>
          <p:nvPr/>
        </p:nvSpPr>
        <p:spPr>
          <a:xfrm>
            <a:off x="685800" y="444817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C6352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51C022-41F6-40E5-9F25-464B1EC5610D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5191125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Every reply checks the active offer and deadline.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29425" y="1779890"/>
            <a:ext cx="4676775" cy="386019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2F14DD0-64FA-453A-A86F-8E1D21495FFB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10-second demo offers. Square, Sheets and SMS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73070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075722-FACF-44BE-8505-D8AEF12FC702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C27"/>
                </a:solidFill>
                <a:latin typeface="Arial"/>
                <a:ea typeface="Arial"/>
                <a:cs typeface="Arial"/>
              </a:rPr>
              <a:t>A pilot with Lena and Carla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EE4B28-1D72-4B2B-A23A-A279ED6E1C02}"/>
              </a:ext>
            </a:extLst>
          </p:cNvPr>
          <p:cNvSpPr>
            <a:spLocks noGrp="1"/>
          </p:cNvSpPr>
          <p:nvPr/>
        </p:nvSpPr>
        <p:spPr>
          <a:xfrm>
            <a:off x="685800" y="63722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Juniper Salon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FDE947-89A4-41D2-90D9-0E1D258D5B05}"/>
              </a:ext>
            </a:extLst>
          </p:cNvPr>
          <p:cNvSpPr>
            <a:spLocks noGrp="1"/>
          </p:cNvSpPr>
          <p:nvPr/>
        </p:nvSpPr>
        <p:spPr>
          <a:xfrm>
            <a:off x="11029950" y="63722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9F1DBA-6567-4C78-A3BF-7EB3392D10D6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C6352"/>
                </a:solidFill>
                <a:latin typeface="Arial"/>
                <a:ea typeface="Arial"/>
                <a:cs typeface="Arial"/>
              </a:rPr>
              <a:t>Proposed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9CAE6-87C0-49E4-A177-3E6782E9FA95}"/>
              </a:ext>
            </a:extLst>
          </p:cNvPr>
          <p:cNvSpPr>
            <a:spLocks noGrp="1"/>
          </p:cNvSpPr>
          <p:nvPr/>
        </p:nvSpPr>
        <p:spPr>
          <a:xfrm>
            <a:off x="3381375" y="1714500"/>
            <a:ext cx="8124825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1 stylist for 1 week, starting with same-day openings.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A54A3-A857-4802-A53D-B4B4B3E35AEE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C6352"/>
                </a:solidFill>
                <a:latin typeface="Arial"/>
                <a:ea typeface="Arial"/>
                <a:cs typeface="Arial"/>
              </a:rPr>
              <a:t>Before launch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72911-C00E-47FB-8266-550126202805}"/>
              </a:ext>
            </a:extLst>
          </p:cNvPr>
          <p:cNvSpPr>
            <a:spLocks noGrp="1"/>
          </p:cNvSpPr>
          <p:nvPr/>
        </p:nvSpPr>
        <p:spPr>
          <a:xfrm>
            <a:off x="3381375" y="2790825"/>
            <a:ext cx="8124825" cy="1676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Rehearse late replies, timeouts and an exhausted waitlist.</a:t>
            </a:r>
          </a:p>
          <a:p>
            <a:pPr>
              <a:defRPr sz="21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Connect Square and recheck availability before booking.</a:t>
            </a:r>
          </a:p>
          <a:p>
            <a:pPr>
              <a:defRPr sz="21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Secure client links. Confirm SMS delivery and costs.</a:t>
            </a:r>
          </a:p>
          <a:p>
            <a:pPr>
              <a:defRPr sz="21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Agree on next-day timing and who handles failures.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8B5330-019B-461D-AE49-A5E4852F5BB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3C635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C6352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792793-C7B6-40AF-9610-D2D92C43B2B5}"/>
              </a:ext>
            </a:extLst>
          </p:cNvPr>
          <p:cNvSpPr>
            <a:spLocks noGrp="1"/>
          </p:cNvSpPr>
          <p:nvPr/>
        </p:nvSpPr>
        <p:spPr>
          <a:xfrm>
            <a:off x="3381375" y="4953000"/>
            <a:ext cx="812482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Openings filled, time to fill, staff follow-ups</a:t>
            </a:r>
          </a:p>
          <a:p>
            <a:pPr>
              <a:defRPr sz="2100" b="0">
                <a:solidFill>
                  <a:srgbClr val="202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C27"/>
                </a:solidFill>
                <a:latin typeface="Arial"/>
                <a:ea typeface="Arial"/>
                <a:cs typeface="Arial"/>
              </a:rPr>
              <a:t>and booking conflicts.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DA5050-FD45-44A3-A7FB-90A5C5140FE5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737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B75"/>
                </a:solidFill>
                <a:latin typeface="Arial"/>
                <a:ea typeface="Arial"/>
                <a:cs typeface="Arial"/>
              </a:rPr>
              <a:t>No live integrations or measured results yet</a:t>
            </a:r>
          </a:p>
        </p:txBody>
      </p:sp>
    </p:spTree>
    <p:extLst>
      <p:ext uri="{BB962C8B-B14F-4D97-AF65-F5344CB8AC3E}">
        <p14:creationId xmlns:p14="http://schemas.microsoft.com/office/powerpoint/2010/main" val="1229332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Macintosh PowerPoint</Application>
  <DocSecurity>0</DocSecurity>
  <PresentationFormat>Widescreen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Abhiram Segu</cp:lastModifiedBy>
  <cp:revision>1</cp:revision>
  <dcterms:created xsi:type="dcterms:W3CDTF">2026-10-07T04:46:23Z</dcterms:created>
  <dcterms:modified xsi:type="dcterms:W3CDTF">2026-10-07T04:47:25Z</dcterms:modified>
</cp:coreProperties>
</file>
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ff06da6bd8e429b" /><Relationship Type="http://schemas.openxmlformats.org/officeDocument/2006/relationships/extended-properties" Target="/docProps/app.xml" Id="R75f1b1bf273645e1" /><Relationship Type="http://schemas.openxmlformats.org/officeDocument/2006/relationships/officeDocument" Target="/ppt/presentation.xml" Id="R4680cf0e3cff4576" /></Relationships>
</file>

<file path=ppt/presentation.xml><?xml version="1.0" encoding="utf-8"?>
<p:presentation xmlns:p="http://schemas.openxmlformats.org/presentationml/2006/main">
  <p:sldMasterIdLst>
    <p:sldMasterId xmlns:r="http://schemas.openxmlformats.org/officeDocument/2006/relationships" id="2147483648" r:id="Re787a53a151f4562"/>
  </p:sldMasterIdLst>
  <p:notesMasterIdLst>
    <p:notesMasterId xmlns:r="http://schemas.openxmlformats.org/officeDocument/2006/relationships" r:id="R3262d69c382b4d58"/>
  </p:notesMasterIdLst>
  <p:sldIdLst>
    <p:sldId xmlns:r="http://schemas.openxmlformats.org/officeDocument/2006/relationships" id="256" r:id="R5fb79401532e4945"/>
    <p:sldId xmlns:r="http://schemas.openxmlformats.org/officeDocument/2006/relationships" id="257" r:id="Rc6b3d326d8884d84"/>
    <p:sldId xmlns:r="http://schemas.openxmlformats.org/officeDocument/2006/relationships" id="258" r:id="Rb93d03b2e0084eb1"/>
    <p:sldId xmlns:r="http://schemas.openxmlformats.org/officeDocument/2006/relationships" id="259" r:id="Rc4b451ca6aab43a9"/>
    <p:sldId xmlns:r="http://schemas.openxmlformats.org/officeDocument/2006/relationships" id="260" r:id="Rd15bfa77b9d84eb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c36c190d40640a9" /><Relationship Type="http://schemas.openxmlformats.org/officeDocument/2006/relationships/slideMaster" Target="/ppt/slideMasters/slideMaster1.xml" Id="Re787a53a151f4562" /><Relationship Type="http://schemas.openxmlformats.org/officeDocument/2006/relationships/notesMaster" Target="/ppt/notesMasters/notesMaster1.xml" Id="R3262d69c382b4d58" /><Relationship Type="http://schemas.openxmlformats.org/officeDocument/2006/relationships/presProps" Target="/ppt/presProps.xml" Id="Ra3d70b9e2a854aa0" /><Relationship Type="http://schemas.openxmlformats.org/officeDocument/2006/relationships/tableStyles" Target="/ppt/tableStyles.xml" Id="R91b4864c1a074742" /><Relationship Type="http://schemas.openxmlformats.org/officeDocument/2006/relationships/slide" Target="/ppt/slides/slide1.xml" Id="R5fb79401532e4945" /><Relationship Type="http://schemas.openxmlformats.org/officeDocument/2006/relationships/slide" Target="/ppt/slides/slide2.xml" Id="Rc6b3d326d8884d84" /><Relationship Type="http://schemas.openxmlformats.org/officeDocument/2006/relationships/slide" Target="/ppt/slides/slide3.xml" Id="Rb93d03b2e0084eb1" /><Relationship Type="http://schemas.openxmlformats.org/officeDocument/2006/relationships/slide" Target="/ppt/slides/slide4.xml" Id="Rc4b451ca6aab43a9" /><Relationship Type="http://schemas.openxmlformats.org/officeDocument/2006/relationships/slide" Target="/ppt/slides/slide5.xml" Id="Rd15bfa77b9d84eb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813d43c84334ae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57b9c849a3b40d0" /><Relationship Type="http://schemas.openxmlformats.org/officeDocument/2006/relationships/notesMaster" Target="/ppt/notesMasters/notesMaster1.xml" Id="Rd2d6f57e232048a6" /></Relationships>
</file>

<file path=ppt/notesSlides/_rels/notesSlide2.xml.rels>&#65279;<?xml version="1.0" encoding="utf-8"?><Relationships xmlns="http://schemas.openxmlformats.org/package/2006/relationships"><Relationship Type="http://schemas.openxmlformats.org/officeDocument/2006/relationships/slide" Target="/ppt/slides/slide2.xml" Id="R1af0dcdfd9ee4bc3" /><Relationship Type="http://schemas.openxmlformats.org/officeDocument/2006/relationships/notesMaster" Target="/ppt/notesMasters/notesMaster1.xml" Id="Rcbf21022af464179" /></Relationships>
</file>

<file path=ppt/notesSlides/_rels/notesSlide3.xml.rels>&#65279;<?xml version="1.0" encoding="utf-8"?><Relationships xmlns="http://schemas.openxmlformats.org/package/2006/relationships"><Relationship Type="http://schemas.openxmlformats.org/officeDocument/2006/relationships/slide" Target="/ppt/slides/slide3.xml" Id="Rca8eb2f4c8224e0d" /><Relationship Type="http://schemas.openxmlformats.org/officeDocument/2006/relationships/notesMaster" Target="/ppt/notesMasters/notesMaster1.xml" Id="R06b30b5b50804d84" /></Relationships>
</file>

<file path=ppt/notesSlides/_rels/notesSlide4.xml.rels>&#65279;<?xml version="1.0" encoding="utf-8"?><Relationships xmlns="http://schemas.openxmlformats.org/package/2006/relationships"><Relationship Type="http://schemas.openxmlformats.org/officeDocument/2006/relationships/slide" Target="/ppt/slides/slide4.xml" Id="R9bdf97c812a944f5" /><Relationship Type="http://schemas.openxmlformats.org/officeDocument/2006/relationships/notesMaster" Target="/ppt/notesMasters/notesMaster1.xml" Id="R36e55ad24a994186" /></Relationships>
</file>

<file path=ppt/notesSlides/_rels/notesSlide5.xml.rels>&#65279;<?xml version="1.0" encoding="utf-8"?><Relationships xmlns="http://schemas.openxmlformats.org/package/2006/relationships"><Relationship Type="http://schemas.openxmlformats.org/officeDocument/2006/relationships/slide" Target="/ppt/slides/slide5.xml" Id="R974bcba019854e4e" /><Relationship Type="http://schemas.openxmlformats.org/officeDocument/2006/relationships/notesMaster" Target="/ppt/notesMasters/notesMaster1.xml" Id="R6a67052ca9824b6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CUSTOMER_CHAT.md. Lena described manual Square / Google Sheet / texting and the Saturday incident. She prioritizes openings within 48 hours. The numbers 2 and 1 describe that incident, not measured product outcomes.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CUSTOMER_CHAT.md, public/app.js, src/matching.ts, src/workflows.ts, live localhost screenshots. Staff and client screenshots show the queue scenario: Maya declines, Alex times out, Jordan accepts. Browser inbox simulates SMS. Automated demo timer is 10 seconds. Manual mode offers 30 seconds or 15 minutes.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src/workflows.ts; evidence/temporal-saturday-history.jpg. Real Temporal execution juniper-opening-228c11eb-f8d9-4e53-866f-1bca5484750e. Update event 35 returns accepted:false,code:expired; event 42 returns accepted:true,code:confirmed. The evidence image is a crop of the unaltered Temporal Web UI screenshot.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src/workflows.ts, src/activities.ts, src/store.ts, README.md and evidence/temporal-saturday-timeline.jpg. Browser talks to Express, which starts Temporal Workflows and sends Updates. Stable opening IDs reject duplicate starts. Activities simulate waitlist reads, SMS and booking with local duplicate protection. Offers advance after a decline or expiry. When all clients are exhausted, the opening remains unfilled. The Workflow remains Running after booking until appointment end to record late replies. During Worker downtime, advancement resumes when a Worker returns. No live Square, Sheets or SMS integration.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CUSTOMER_CHAT.md, README.md, src/activities.ts and src/api.ts. Proposed pilot scope (one stylist / one week) is a suggestion, not an agreed commitment. Next-day response window remains unspecified. Independent bookings made in Square could conflict with workflow offers until a real availability/booking integration is built. Authentication, secure response links, real SMS delivery, production hosting and operating costs are excluded from this local prototype. No business impact has been measured.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08a3c26560c4b0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d197aae9de94890" /><Relationship Type="http://schemas.openxmlformats.org/officeDocument/2006/relationships/slideLayout" Target="/ppt/slideLayouts/slideLayout1.xml" Id="R7deb0d17ef6d450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deb0d17ef6d450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d77a7061aa845cc" /><Relationship Type="http://schemas.openxmlformats.org/officeDocument/2006/relationships/notesSlide" Target="/ppt/notesSlides/notesSlide1.xml" Id="Rdf6e27e301464f9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342cdb9ba744423" /><Relationship Type="http://schemas.openxmlformats.org/officeDocument/2006/relationships/image" Target="/ppt/media/image.jpeg" Id="R6e0b3445db434836" /><Relationship Type="http://schemas.openxmlformats.org/officeDocument/2006/relationships/image" Target="/ppt/media/image2.jpeg" Id="Ra113062b0aaf4e9f" /><Relationship Type="http://schemas.openxmlformats.org/officeDocument/2006/relationships/notesSlide" Target="/ppt/notesSlides/notesSlide2.xml" Id="Rea1d2a399eb74a3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64ceccf00fb4826" /><Relationship Type="http://schemas.openxmlformats.org/officeDocument/2006/relationships/image" Target="/ppt/media/image3.jpeg" Id="R72ebe622478641b6" /><Relationship Type="http://schemas.openxmlformats.org/officeDocument/2006/relationships/notesSlide" Target="/ppt/notesSlides/notesSlide3.xml" Id="Rf3220aeab3af490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8d47610d251471f" /><Relationship Type="http://schemas.openxmlformats.org/officeDocument/2006/relationships/image" Target="/ppt/media/image4.jpeg" Id="R6e0f90ca549f44fc" /><Relationship Type="http://schemas.openxmlformats.org/officeDocument/2006/relationships/notesSlide" Target="/ppt/notesSlides/notesSlide4.xml" Id="Ra56ade085910400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3289b4912924eb2" /><Relationship Type="http://schemas.openxmlformats.org/officeDocument/2006/relationships/notesSlide" Target="/ppt/notesSlides/notesSlide5.xml" Id="Rdc685a6b31f04ac6" /></Relationships>
</file>

<file path=ppt/slides/slide1.xml><?xml version="1.0" encoding="utf-8"?>
<p:sld xmlns:p="http://schemas.openxmlformats.org/presentationml/2006/main">
  <p:cSld>
    <p:bg>
      <p:bgPr>
        <a:solidFill xmlns:a="http://schemas.openxmlformats.org/drawingml/2006/main">
          <a:srgbClr val="253B32"/>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2AC4CB60-1FED-48B9-B90D-FD6EF2158117}"/>
              </a:ext>
            </a:extLst>
          </p:cNvPr>
          <p:cNvSpPr>
            <a:spLocks xmlns:a="http://schemas.openxmlformats.org/drawingml/2006/main" noGrp="1"/>
          </p:cNvSpPr>
          <p:nvPr/>
        </p:nvSpPr>
        <p:spPr>
          <a:xfrm xmlns:a="http://schemas.openxmlformats.org/drawingml/2006/main">
            <a:off x="609600" y="2857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75" b="1">
                <a:solidFill>
                  <a:srgbClr val="D5E1D3"/>
                </a:solidFill>
                <a:latin typeface="Arial"/>
                <a:ea typeface="Arial"/>
                <a:cs typeface="Arial"/>
              </a:defRPr>
            </a:pPr>
            <a:r>
              <a:rPr sz="1275" b="1">
                <a:solidFill>
                  <a:srgbClr val="D5E1D3"/>
                </a:solidFill>
                <a:latin typeface="Arial"/>
                <a:ea typeface="Arial"/>
                <a:cs typeface="Arial"/>
              </a:rPr>
              <a:t>JUNIPER SALON</a:t>
            </a:r>
          </a:p>
        </p:txBody>
      </p:sp>
      <p:sp>
        <p:nvSpPr>
          <p:cNvPr id="2" name="">
            <a:extLst xmlns:a="http://schemas.openxmlformats.org/drawingml/2006/main">
              <a:ext uri="{FF2B5EF4-FFF2-40B4-BE49-F238E27FC236}">
                <a16:creationId xmlns:a16="http://schemas.microsoft.com/office/drawing/2014/main" id="{EE91EDBB-0570-4F38-8511-CA26F5830BBB}"/>
              </a:ext>
            </a:extLst>
          </p:cNvPr>
          <p:cNvSpPr>
            <a:spLocks xmlns:a="http://schemas.openxmlformats.org/drawingml/2006/main" noGrp="1"/>
          </p:cNvSpPr>
          <p:nvPr/>
        </p:nvSpPr>
        <p:spPr>
          <a:xfrm xmlns:a="http://schemas.openxmlformats.org/drawingml/2006/main">
            <a:off x="11144250" y="28575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75" b="0">
                <a:solidFill>
                  <a:srgbClr val="D5E1D3"/>
                </a:solidFill>
                <a:latin typeface="Arial"/>
                <a:ea typeface="Arial"/>
                <a:cs typeface="Arial"/>
              </a:defRPr>
            </a:pPr>
            <a:r>
              <a:rPr sz="1275" b="0">
                <a:solidFill>
                  <a:srgbClr val="D5E1D3"/>
                </a:solidFill>
                <a:latin typeface="Arial"/>
                <a:ea typeface="Arial"/>
                <a:cs typeface="Arial"/>
              </a:rPr>
              <a:t>01</a:t>
            </a:r>
          </a:p>
        </p:txBody>
      </p:sp>
      <p:sp>
        <p:nvSpPr>
          <p:cNvPr id="3" name="">
            <a:extLst xmlns:a="http://schemas.openxmlformats.org/drawingml/2006/main">
              <a:ext uri="{FF2B5EF4-FFF2-40B4-BE49-F238E27FC236}">
                <a16:creationId xmlns:a16="http://schemas.microsoft.com/office/drawing/2014/main" id="{B7CDBDA4-667F-463A-BC91-BFD2DDC425D5}"/>
              </a:ext>
            </a:extLst>
          </p:cNvPr>
          <p:cNvSpPr>
            <a:spLocks xmlns:a="http://schemas.openxmlformats.org/drawingml/2006/main" noGrp="1"/>
          </p:cNvSpPr>
          <p:nvPr/>
        </p:nvSpPr>
        <p:spPr>
          <a:xfrm xmlns:a="http://schemas.openxmlformats.org/drawingml/2006/main">
            <a:off x="609600" y="1171575"/>
            <a:ext cx="63817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4875" b="0">
                <a:solidFill>
                  <a:srgbClr val="FFFEF9"/>
                </a:solidFill>
                <a:latin typeface="Georgia"/>
                <a:ea typeface="Georgia"/>
                <a:cs typeface="Georgia"/>
              </a:defRPr>
            </a:pPr>
            <a:r>
              <a:rPr sz="4875" b="0">
                <a:solidFill>
                  <a:srgbClr val="FFFEF9"/>
                </a:solidFill>
                <a:latin typeface="Georgia"/>
                <a:ea typeface="Georgia"/>
                <a:cs typeface="Georgia"/>
              </a:rPr>
              <a:t>Filling last-minute</a:t>
            </a:r>
          </a:p>
          <a:p xmlns:a="http://schemas.openxmlformats.org/drawingml/2006/main">
            <a:pPr>
              <a:defRPr sz="4875" b="0">
                <a:solidFill>
                  <a:srgbClr val="FFFEF9"/>
                </a:solidFill>
                <a:latin typeface="Georgia"/>
                <a:ea typeface="Georgia"/>
                <a:cs typeface="Georgia"/>
              </a:defRPr>
            </a:pPr>
            <a:r>
              <a:rPr sz="4875" b="0">
                <a:solidFill>
                  <a:srgbClr val="FFFEF9"/>
                </a:solidFill>
                <a:latin typeface="Georgia"/>
                <a:ea typeface="Georgia"/>
                <a:cs typeface="Georgia"/>
              </a:rPr>
              <a:t>openings</a:t>
            </a:r>
          </a:p>
        </p:txBody>
      </p:sp>
      <p:sp>
        <p:nvSpPr>
          <p:cNvPr id="4" name="">
            <a:extLst xmlns:a="http://schemas.openxmlformats.org/drawingml/2006/main">
              <a:ext uri="{FF2B5EF4-FFF2-40B4-BE49-F238E27FC236}">
                <a16:creationId xmlns:a16="http://schemas.microsoft.com/office/drawing/2014/main" id="{D23DB744-6AD0-45BA-8B6A-5B62FB8FBEAA}"/>
              </a:ext>
            </a:extLst>
          </p:cNvPr>
          <p:cNvSpPr>
            <a:spLocks xmlns:a="http://schemas.openxmlformats.org/drawingml/2006/main" noGrp="1"/>
          </p:cNvSpPr>
          <p:nvPr/>
        </p:nvSpPr>
        <p:spPr>
          <a:xfrm xmlns:a="http://schemas.openxmlformats.org/drawingml/2006/main">
            <a:off x="647700" y="3000375"/>
            <a:ext cx="5619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0">
                <a:solidFill>
                  <a:srgbClr val="D5E1D3"/>
                </a:solidFill>
                <a:latin typeface="Arial"/>
                <a:ea typeface="Arial"/>
                <a:cs typeface="Arial"/>
              </a:defRPr>
            </a:pPr>
            <a:r>
              <a:rPr sz="2100" b="0">
                <a:solidFill>
                  <a:srgbClr val="D5E1D3"/>
                </a:solidFill>
                <a:latin typeface="Arial"/>
                <a:ea typeface="Arial"/>
                <a:cs typeface="Arial"/>
              </a:rPr>
              <a:t>A waitlist prototype for Lena and Carla</a:t>
            </a:r>
          </a:p>
        </p:txBody>
      </p:sp>
      <p:sp>
        <p:nvSpPr>
          <p:cNvPr id="5" name="">
            <a:extLst xmlns:a="http://schemas.openxmlformats.org/drawingml/2006/main">
              <a:ext uri="{FF2B5EF4-FFF2-40B4-BE49-F238E27FC236}">
                <a16:creationId xmlns:a16="http://schemas.microsoft.com/office/drawing/2014/main" id="{8E654F08-C265-4678-9EEC-395C878FBDEC}"/>
              </a:ext>
            </a:extLst>
          </p:cNvPr>
          <p:cNvSpPr>
            <a:spLocks xmlns:a="http://schemas.openxmlformats.org/drawingml/2006/main" noGrp="1"/>
          </p:cNvSpPr>
          <p:nvPr/>
        </p:nvSpPr>
        <p:spPr>
          <a:xfrm xmlns:a="http://schemas.openxmlformats.org/drawingml/2006/main">
            <a:off x="647700" y="4076700"/>
            <a:ext cx="5619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FFFEF9"/>
                </a:solidFill>
                <a:latin typeface="Arial"/>
                <a:ea typeface="Arial"/>
                <a:cs typeface="Arial"/>
              </a:defRPr>
            </a:pPr>
            <a:r>
              <a:rPr sz="2175" b="0">
                <a:solidFill>
                  <a:srgbClr val="FFFEF9"/>
                </a:solidFill>
                <a:latin typeface="Arial"/>
                <a:ea typeface="Arial"/>
                <a:cs typeface="Arial"/>
              </a:rPr>
              <a:t>Today: update Square, scan the sheet,</a:t>
            </a:r>
          </a:p>
          <a:p xmlns:a="http://schemas.openxmlformats.org/drawingml/2006/main">
            <a:pPr>
              <a:defRPr sz="2175" b="0">
                <a:solidFill>
                  <a:srgbClr val="FFFEF9"/>
                </a:solidFill>
                <a:latin typeface="Arial"/>
                <a:ea typeface="Arial"/>
                <a:cs typeface="Arial"/>
              </a:defRPr>
            </a:pPr>
            <a:r>
              <a:rPr sz="2175" b="0">
                <a:solidFill>
                  <a:srgbClr val="FFFEF9"/>
                </a:solidFill>
                <a:latin typeface="Arial"/>
                <a:ea typeface="Arial"/>
                <a:cs typeface="Arial"/>
              </a:rPr>
              <a:t>then text clients by hand.</a:t>
            </a:r>
          </a:p>
        </p:txBody>
      </p:sp>
      <p:sp>
        <p:nvSpPr>
          <p:cNvPr id="6" name="">
            <a:extLst xmlns:a="http://schemas.openxmlformats.org/drawingml/2006/main">
              <a:ext uri="{FF2B5EF4-FFF2-40B4-BE49-F238E27FC236}">
                <a16:creationId xmlns:a16="http://schemas.microsoft.com/office/drawing/2014/main" id="{0C0E7531-33F5-41DF-86A2-5FF74B228061}"/>
              </a:ext>
            </a:extLst>
          </p:cNvPr>
          <p:cNvSpPr>
            <a:spLocks xmlns:a="http://schemas.openxmlformats.org/drawingml/2006/main" noGrp="1"/>
          </p:cNvSpPr>
          <p:nvPr/>
        </p:nvSpPr>
        <p:spPr>
          <a:xfrm xmlns:a="http://schemas.openxmlformats.org/drawingml/2006/main">
            <a:off x="647700" y="5724525"/>
            <a:ext cx="666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D5E1D3"/>
                </a:solidFill>
                <a:latin typeface="Arial"/>
                <a:ea typeface="Arial"/>
                <a:cs typeface="Arial"/>
              </a:defRPr>
            </a:pPr>
            <a:r>
              <a:rPr sz="1875" b="0">
                <a:solidFill>
                  <a:srgbClr val="D5E1D3"/>
                </a:solidFill>
                <a:latin typeface="Arial"/>
                <a:ea typeface="Arial"/>
                <a:cs typeface="Arial"/>
              </a:rPr>
              <a:t>Goal: less follow-up and one clear confirmation.</a:t>
            </a:r>
          </a:p>
        </p:txBody>
      </p:sp>
      <p:sp>
        <p:nvSpPr>
          <p:cNvPr id="7" name="">
            <a:extLst xmlns:a="http://schemas.openxmlformats.org/drawingml/2006/main">
              <a:ext uri="{FF2B5EF4-FFF2-40B4-BE49-F238E27FC236}">
                <a16:creationId xmlns:a16="http://schemas.microsoft.com/office/drawing/2014/main" id="{BF8D12FC-037E-4FD4-AD4F-D1D4148AFB4B}"/>
              </a:ext>
            </a:extLst>
          </p:cNvPr>
          <p:cNvSpPr>
            <a:spLocks xmlns:a="http://schemas.openxmlformats.org/drawingml/2006/main" noGrp="1"/>
          </p:cNvSpPr>
          <p:nvPr/>
        </p:nvSpPr>
        <p:spPr>
          <a:xfrm xmlns:a="http://schemas.openxmlformats.org/drawingml/2006/main">
            <a:off x="8439150" y="1095375"/>
            <a:ext cx="24765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0" b="0">
                <a:solidFill>
                  <a:srgbClr val="FFFEF9"/>
                </a:solidFill>
                <a:latin typeface="Georgia"/>
                <a:ea typeface="Georgia"/>
                <a:cs typeface="Georgia"/>
              </a:defRPr>
            </a:pPr>
            <a:r>
              <a:rPr sz="11250" b="0">
                <a:solidFill>
                  <a:srgbClr val="FFFEF9"/>
                </a:solidFill>
                <a:latin typeface="Georgia"/>
                <a:ea typeface="Georgia"/>
                <a:cs typeface="Georgia"/>
              </a:rPr>
              <a:t>2</a:t>
            </a:r>
          </a:p>
        </p:txBody>
      </p:sp>
      <p:sp>
        <p:nvSpPr>
          <p:cNvPr id="8" name="">
            <a:extLst xmlns:a="http://schemas.openxmlformats.org/drawingml/2006/main">
              <a:ext uri="{FF2B5EF4-FFF2-40B4-BE49-F238E27FC236}">
                <a16:creationId xmlns:a16="http://schemas.microsoft.com/office/drawing/2014/main" id="{553A2137-C869-4609-9731-156578682DFA}"/>
              </a:ext>
            </a:extLst>
          </p:cNvPr>
          <p:cNvSpPr>
            <a:spLocks xmlns:a="http://schemas.openxmlformats.org/drawingml/2006/main" noGrp="1"/>
          </p:cNvSpPr>
          <p:nvPr/>
        </p:nvSpPr>
        <p:spPr>
          <a:xfrm xmlns:a="http://schemas.openxmlformats.org/drawingml/2006/main">
            <a:off x="7991475" y="2686050"/>
            <a:ext cx="3429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0">
                <a:solidFill>
                  <a:srgbClr val="D5E1D3"/>
                </a:solidFill>
                <a:latin typeface="Arial"/>
                <a:ea typeface="Arial"/>
                <a:cs typeface="Arial"/>
              </a:defRPr>
            </a:pPr>
            <a:r>
              <a:rPr sz="2325" b="0">
                <a:solidFill>
                  <a:srgbClr val="D5E1D3"/>
                </a:solidFill>
                <a:latin typeface="Arial"/>
                <a:ea typeface="Arial"/>
                <a:cs typeface="Arial"/>
              </a:rPr>
              <a:t>clients said yes</a:t>
            </a:r>
          </a:p>
        </p:txBody>
      </p:sp>
      <p:sp>
        <p:nvSpPr>
          <p:cNvPr id="9" name="">
            <a:extLst xmlns:a="http://schemas.openxmlformats.org/drawingml/2006/main">
              <a:ext uri="{FF2B5EF4-FFF2-40B4-BE49-F238E27FC236}">
                <a16:creationId xmlns:a16="http://schemas.microsoft.com/office/drawing/2014/main" id="{BE741070-6A90-447F-80CD-3F6CB9E2F39F}"/>
              </a:ext>
            </a:extLst>
          </p:cNvPr>
          <p:cNvSpPr>
            <a:spLocks xmlns:a="http://schemas.openxmlformats.org/drawingml/2006/main" noGrp="1"/>
          </p:cNvSpPr>
          <p:nvPr/>
        </p:nvSpPr>
        <p:spPr>
          <a:xfrm xmlns:a="http://schemas.openxmlformats.org/drawingml/2006/main">
            <a:off x="8543925" y="3286125"/>
            <a:ext cx="238125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0" b="0">
                <a:solidFill>
                  <a:srgbClr val="FFFEF9"/>
                </a:solidFill>
                <a:latin typeface="Georgia"/>
                <a:ea typeface="Georgia"/>
                <a:cs typeface="Georgia"/>
              </a:defRPr>
            </a:pPr>
            <a:r>
              <a:rPr sz="11250" b="0">
                <a:solidFill>
                  <a:srgbClr val="FFFEF9"/>
                </a:solidFill>
                <a:latin typeface="Georgia"/>
                <a:ea typeface="Georgia"/>
                <a:cs typeface="Georgia"/>
              </a:rPr>
              <a:t>1</a:t>
            </a:r>
          </a:p>
        </p:txBody>
      </p:sp>
      <p:sp>
        <p:nvSpPr>
          <p:cNvPr id="10" name="">
            <a:extLst xmlns:a="http://schemas.openxmlformats.org/drawingml/2006/main">
              <a:ext uri="{FF2B5EF4-FFF2-40B4-BE49-F238E27FC236}">
                <a16:creationId xmlns:a16="http://schemas.microsoft.com/office/drawing/2014/main" id="{983EB69C-13D9-4340-B6B9-BE0B2C3FA4B9}"/>
              </a:ext>
            </a:extLst>
          </p:cNvPr>
          <p:cNvSpPr>
            <a:spLocks xmlns:a="http://schemas.openxmlformats.org/drawingml/2006/main" noGrp="1"/>
          </p:cNvSpPr>
          <p:nvPr/>
        </p:nvSpPr>
        <p:spPr>
          <a:xfrm xmlns:a="http://schemas.openxmlformats.org/drawingml/2006/main">
            <a:off x="7877175" y="4857750"/>
            <a:ext cx="352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0">
                <a:solidFill>
                  <a:srgbClr val="D5E1D3"/>
                </a:solidFill>
                <a:latin typeface="Arial"/>
                <a:ea typeface="Arial"/>
                <a:cs typeface="Arial"/>
              </a:defRPr>
            </a:pPr>
            <a:r>
              <a:rPr sz="2325" b="0">
                <a:solidFill>
                  <a:srgbClr val="D5E1D3"/>
                </a:solidFill>
                <a:latin typeface="Arial"/>
                <a:ea typeface="Arial"/>
                <a:cs typeface="Arial"/>
              </a:rPr>
              <a:t>Saturday opening</a:t>
            </a:r>
          </a:p>
        </p:txBody>
      </p:sp>
      <p:sp>
        <p:nvSpPr>
          <p:cNvPr id="11" name="">
            <a:extLst xmlns:a="http://schemas.openxmlformats.org/drawingml/2006/main">
              <a:ext uri="{FF2B5EF4-FFF2-40B4-BE49-F238E27FC236}">
                <a16:creationId xmlns:a16="http://schemas.microsoft.com/office/drawing/2014/main" id="{411C1FE1-EE4D-42B5-A5B9-09DA464801D1}"/>
              </a:ext>
            </a:extLst>
          </p:cNvPr>
          <p:cNvSpPr>
            <a:spLocks xmlns:a="http://schemas.openxmlformats.org/drawingml/2006/main" noGrp="1"/>
          </p:cNvSpPr>
          <p:nvPr/>
        </p:nvSpPr>
        <p:spPr>
          <a:xfrm xmlns:a="http://schemas.openxmlformats.org/drawingml/2006/main">
            <a:off x="7639050" y="5695950"/>
            <a:ext cx="3714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FFFEF9"/>
                </a:solidFill>
                <a:latin typeface="Arial"/>
                <a:ea typeface="Arial"/>
                <a:cs typeface="Arial"/>
              </a:defRPr>
            </a:pPr>
            <a:r>
              <a:rPr sz="1800" b="0">
                <a:solidFill>
                  <a:srgbClr val="FFFEF9"/>
                </a:solidFill>
                <a:latin typeface="Arial"/>
                <a:ea typeface="Arial"/>
                <a:cs typeface="Arial"/>
              </a:rPr>
              <a:t>Both arrived. One left angry.</a:t>
            </a:r>
          </a:p>
        </p:txBody>
      </p:sp>
    </p:spTree>
    <p:extLst>
      <p:ext uri="{BB962C8B-B14F-4D97-AF65-F5344CB8AC3E}">
        <p14:creationId xmlns:p14="http://schemas.microsoft.com/office/powerpoint/2010/main" val="145469861"/>
      </p:ext>
    </p:extLst>
  </p:cSld>
</p:sld>
</file>

<file path=ppt/slides/slide2.xml><?xml version="1.0" encoding="utf-8"?>
<p:sld xmlns:p="http://schemas.openxmlformats.org/presentationml/2006/main">
  <p:cSld>
    <p:bg>
      <p:bgPr>
        <a:solidFill xmlns:a="http://schemas.openxmlformats.org/drawingml/2006/main">
          <a:srgbClr val="F4F3EE"/>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E929C72F-67A0-4CBC-9DFE-44B916B1DDEA}"/>
              </a:ext>
            </a:extLst>
          </p:cNvPr>
          <p:cNvSpPr>
            <a:spLocks xmlns:a="http://schemas.openxmlformats.org/drawingml/2006/main" noGrp="1"/>
          </p:cNvSpPr>
          <p:nvPr/>
        </p:nvSpPr>
        <p:spPr>
          <a:xfrm xmlns:a="http://schemas.openxmlformats.org/drawingml/2006/main">
            <a:off x="609600" y="2857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75" b="1">
                <a:solidFill>
                  <a:srgbClr val="315F50"/>
                </a:solidFill>
                <a:latin typeface="Arial"/>
                <a:ea typeface="Arial"/>
                <a:cs typeface="Arial"/>
              </a:defRPr>
            </a:pPr>
            <a:r>
              <a:rPr sz="1275" b="1">
                <a:solidFill>
                  <a:srgbClr val="315F50"/>
                </a:solidFill>
                <a:latin typeface="Arial"/>
                <a:ea typeface="Arial"/>
                <a:cs typeface="Arial"/>
              </a:rPr>
              <a:t>JUNIPER SALON</a:t>
            </a:r>
          </a:p>
        </p:txBody>
      </p:sp>
      <p:sp>
        <p:nvSpPr>
          <p:cNvPr id="2" name="">
            <a:extLst xmlns:a="http://schemas.openxmlformats.org/drawingml/2006/main">
              <a:ext uri="{FF2B5EF4-FFF2-40B4-BE49-F238E27FC236}">
                <a16:creationId xmlns:a16="http://schemas.microsoft.com/office/drawing/2014/main" id="{0D743E7E-A1BD-47B3-8F50-7977F0E22D7B}"/>
              </a:ext>
            </a:extLst>
          </p:cNvPr>
          <p:cNvSpPr>
            <a:spLocks xmlns:a="http://schemas.openxmlformats.org/drawingml/2006/main" noGrp="1"/>
          </p:cNvSpPr>
          <p:nvPr/>
        </p:nvSpPr>
        <p:spPr>
          <a:xfrm xmlns:a="http://schemas.openxmlformats.org/drawingml/2006/main">
            <a:off x="11144250" y="28575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75" b="0">
                <a:solidFill>
                  <a:srgbClr val="687068"/>
                </a:solidFill>
                <a:latin typeface="Arial"/>
                <a:ea typeface="Arial"/>
                <a:cs typeface="Arial"/>
              </a:defRPr>
            </a:pPr>
            <a:r>
              <a:rPr sz="1275" b="0">
                <a:solidFill>
                  <a:srgbClr val="687068"/>
                </a:solidFill>
                <a:latin typeface="Arial"/>
                <a:ea typeface="Arial"/>
                <a:cs typeface="Arial"/>
              </a:rPr>
              <a:t>02</a:t>
            </a:r>
          </a:p>
        </p:txBody>
      </p:sp>
      <p:sp>
        <p:nvSpPr>
          <p:cNvPr id="3" name="">
            <a:extLst xmlns:a="http://schemas.openxmlformats.org/drawingml/2006/main">
              <a:ext uri="{FF2B5EF4-FFF2-40B4-BE49-F238E27FC236}">
                <a16:creationId xmlns:a16="http://schemas.microsoft.com/office/drawing/2014/main" id="{28C170B9-7771-46BB-9C1B-2F0E4BD9EB24}"/>
              </a:ext>
            </a:extLst>
          </p:cNvPr>
          <p:cNvSpPr>
            <a:spLocks xmlns:a="http://schemas.openxmlformats.org/drawingml/2006/main" noGrp="1"/>
          </p:cNvSpPr>
          <p:nvPr/>
        </p:nvSpPr>
        <p:spPr>
          <a:xfrm xmlns:a="http://schemas.openxmlformats.org/drawingml/2006/main">
            <a:off x="609600" y="78105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75" b="0">
                <a:solidFill>
                  <a:srgbClr val="253B32"/>
                </a:solidFill>
                <a:latin typeface="Georgia"/>
                <a:ea typeface="Georgia"/>
                <a:cs typeface="Georgia"/>
              </a:defRPr>
            </a:pPr>
            <a:r>
              <a:rPr sz="3675" b="0">
                <a:solidFill>
                  <a:srgbClr val="253B32"/>
                </a:solidFill>
                <a:latin typeface="Georgia"/>
                <a:ea typeface="Georgia"/>
                <a:cs typeface="Georgia"/>
              </a:rPr>
              <a:t>One offer at a time</a:t>
            </a:r>
          </a:p>
        </p:txBody>
      </p:sp>
      <p:sp>
        <p:nvSpPr>
          <p:cNvPr id="4" name="">
            <a:extLst xmlns:a="http://schemas.openxmlformats.org/drawingml/2006/main">
              <a:ext uri="{FF2B5EF4-FFF2-40B4-BE49-F238E27FC236}">
                <a16:creationId xmlns:a16="http://schemas.microsoft.com/office/drawing/2014/main" id="{6E7183F8-8C3B-4FDE-8D97-AE4A2A4E089A}"/>
              </a:ext>
            </a:extLst>
          </p:cNvPr>
          <p:cNvSpPr>
            <a:spLocks xmlns:a="http://schemas.openxmlformats.org/drawingml/2006/main" noGrp="1"/>
          </p:cNvSpPr>
          <p:nvPr/>
        </p:nvSpPr>
        <p:spPr>
          <a:xfrm xmlns:a="http://schemas.openxmlformats.org/drawingml/2006/main">
            <a:off x="609600" y="1762125"/>
            <a:ext cx="5715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315F50"/>
                </a:solidFill>
                <a:latin typeface="Arial"/>
                <a:ea typeface="Arial"/>
                <a:cs typeface="Arial"/>
              </a:defRPr>
            </a:pPr>
            <a:r>
              <a:rPr sz="1950" b="1">
                <a:solidFill>
                  <a:srgbClr val="315F50"/>
                </a:solidFill>
                <a:latin typeface="Arial"/>
                <a:ea typeface="Arial"/>
                <a:cs typeface="Arial"/>
              </a:rPr>
              <a:t>Staff see the queue</a:t>
            </a:r>
          </a:p>
        </p:txBody>
      </p:sp>
      <p:sp>
        <p:nvSpPr>
          <p:cNvPr id="5" name="">
            <a:extLst xmlns:a="http://schemas.openxmlformats.org/drawingml/2006/main">
              <a:ext uri="{FF2B5EF4-FFF2-40B4-BE49-F238E27FC236}">
                <a16:creationId xmlns:a16="http://schemas.microsoft.com/office/drawing/2014/main" id="{7A669AE0-EAD1-4BBF-BA47-10953CE00684}"/>
              </a:ext>
            </a:extLst>
          </p:cNvPr>
          <p:cNvSpPr>
            <a:spLocks xmlns:a="http://schemas.openxmlformats.org/drawingml/2006/main" noGrp="1"/>
          </p:cNvSpPr>
          <p:nvPr/>
        </p:nvSpPr>
        <p:spPr>
          <a:xfrm xmlns:a="http://schemas.openxmlformats.org/drawingml/2006/main">
            <a:off x="7019925" y="1762125"/>
            <a:ext cx="4572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315F50"/>
                </a:solidFill>
                <a:latin typeface="Arial"/>
                <a:ea typeface="Arial"/>
                <a:cs typeface="Arial"/>
              </a:defRPr>
            </a:pPr>
            <a:r>
              <a:rPr sz="1950" b="1">
                <a:solidFill>
                  <a:srgbClr val="315F50"/>
                </a:solidFill>
                <a:latin typeface="Arial"/>
                <a:ea typeface="Arial"/>
                <a:cs typeface="Arial"/>
              </a:rPr>
              <a:t>Clients reply from their phone</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6e0b3445db434836"/>
          <a:stretch xmlns:a="http://schemas.openxmlformats.org/drawingml/2006/main"/>
        </p:blipFill>
        <p:spPr>
          <a:xfrm xmlns:a="http://schemas.openxmlformats.org/drawingml/2006/main">
            <a:off x="609600" y="2558126"/>
            <a:ext cx="5905500" cy="2598998"/>
          </a:xfrm>
          <a:prstGeom xmlns:a="http://schemas.openxmlformats.org/drawingml/2006/main" prst="rect">
            <a:avLst/>
          </a:prstGeom>
        </p:spPr>
      </p:pic>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a113062b0aaf4e9f"/>
          <a:stretch xmlns:a="http://schemas.openxmlformats.org/drawingml/2006/main"/>
        </p:blipFill>
        <p:spPr>
          <a:xfrm xmlns:a="http://schemas.openxmlformats.org/drawingml/2006/main">
            <a:off x="7019925" y="2164007"/>
            <a:ext cx="4572000" cy="3587262"/>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8D9DA9C3-3E7A-4B5C-BB7A-BCBC57E78536}"/>
              </a:ext>
            </a:extLst>
          </p:cNvPr>
          <p:cNvSpPr>
            <a:spLocks xmlns:a="http://schemas.openxmlformats.org/drawingml/2006/main" noGrp="1"/>
          </p:cNvSpPr>
          <p:nvPr/>
        </p:nvSpPr>
        <p:spPr>
          <a:xfrm xmlns:a="http://schemas.openxmlformats.org/drawingml/2006/main">
            <a:off x="609600" y="5743575"/>
            <a:ext cx="5905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253B32"/>
                </a:solidFill>
                <a:latin typeface="Arial"/>
                <a:ea typeface="Arial"/>
                <a:cs typeface="Arial"/>
              </a:defRPr>
            </a:pPr>
            <a:r>
              <a:rPr sz="1800" b="0">
                <a:solidFill>
                  <a:srgbClr val="253B32"/>
                </a:solidFill>
                <a:latin typeface="Arial"/>
                <a:ea typeface="Arial"/>
                <a:cs typeface="Arial"/>
              </a:rPr>
              <a:t>Match service, time and required stylist.</a:t>
            </a:r>
          </a:p>
          <a:p xmlns:a="http://schemas.openxmlformats.org/drawingml/2006/main">
            <a:pPr>
              <a:defRPr sz="1800" b="0">
                <a:solidFill>
                  <a:srgbClr val="253B32"/>
                </a:solidFill>
                <a:latin typeface="Arial"/>
                <a:ea typeface="Arial"/>
                <a:cs typeface="Arial"/>
              </a:defRPr>
            </a:pPr>
            <a:r>
              <a:rPr sz="1800" b="0">
                <a:solidFill>
                  <a:srgbClr val="253B32"/>
                </a:solidFill>
                <a:latin typeface="Arial"/>
                <a:ea typeface="Arial"/>
                <a:cs typeface="Arial"/>
              </a:rPr>
              <a:t>Earliest eligible client goes first.</a:t>
            </a:r>
          </a:p>
        </p:txBody>
      </p:sp>
      <p:sp>
        <p:nvSpPr>
          <p:cNvPr id="9" name="">
            <a:extLst xmlns:a="http://schemas.openxmlformats.org/drawingml/2006/main">
              <a:ext uri="{FF2B5EF4-FFF2-40B4-BE49-F238E27FC236}">
                <a16:creationId xmlns:a16="http://schemas.microsoft.com/office/drawing/2014/main" id="{6738F497-08E7-488E-9440-9FFA84A0E93B}"/>
              </a:ext>
            </a:extLst>
          </p:cNvPr>
          <p:cNvSpPr>
            <a:spLocks xmlns:a="http://schemas.openxmlformats.org/drawingml/2006/main" noGrp="1"/>
          </p:cNvSpPr>
          <p:nvPr/>
        </p:nvSpPr>
        <p:spPr>
          <a:xfrm xmlns:a="http://schemas.openxmlformats.org/drawingml/2006/main">
            <a:off x="7019925" y="5743575"/>
            <a:ext cx="4572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253B32"/>
                </a:solidFill>
                <a:latin typeface="Arial"/>
                <a:ea typeface="Arial"/>
                <a:cs typeface="Arial"/>
              </a:defRPr>
            </a:pPr>
            <a:r>
              <a:rPr sz="1800" b="0">
                <a:solidFill>
                  <a:srgbClr val="253B32"/>
                </a:solidFill>
                <a:latin typeface="Arial"/>
                <a:ea typeface="Arial"/>
                <a:cs typeface="Arial"/>
              </a:rPr>
              <a:t>15 minutes for a same-day reply.</a:t>
            </a:r>
          </a:p>
          <a:p xmlns:a="http://schemas.openxmlformats.org/drawingml/2006/main">
            <a:pPr>
              <a:defRPr sz="1800" b="0">
                <a:solidFill>
                  <a:srgbClr val="253B32"/>
                </a:solidFill>
                <a:latin typeface="Arial"/>
                <a:ea typeface="Arial"/>
                <a:cs typeface="Arial"/>
              </a:defRPr>
            </a:pPr>
            <a:r>
              <a:rPr sz="1800" b="0">
                <a:solidFill>
                  <a:srgbClr val="253B32"/>
                </a:solidFill>
                <a:latin typeface="Arial"/>
                <a:ea typeface="Arial"/>
                <a:cs typeface="Arial"/>
              </a:rPr>
              <a:t>Timely acceptance confirms immediately.</a:t>
            </a:r>
          </a:p>
        </p:txBody>
      </p:sp>
    </p:spTree>
    <p:extLst>
      <p:ext uri="{BB962C8B-B14F-4D97-AF65-F5344CB8AC3E}">
        <p14:creationId xmlns:p14="http://schemas.microsoft.com/office/powerpoint/2010/main" val="1478461204"/>
      </p:ext>
    </p:extLst>
  </p:cSld>
</p:sld>
</file>

<file path=ppt/slides/slide3.xml><?xml version="1.0" encoding="utf-8"?>
<p:sld xmlns:p="http://schemas.openxmlformats.org/presentationml/2006/main">
  <p:cSld>
    <p:bg>
      <p:bgPr>
        <a:solidFill xmlns:a="http://schemas.openxmlformats.org/drawingml/2006/main">
          <a:srgbClr val="F4F3EE"/>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976D1FF0-0995-4806-8830-08252AE16185}"/>
              </a:ext>
            </a:extLst>
          </p:cNvPr>
          <p:cNvSpPr>
            <a:spLocks xmlns:a="http://schemas.openxmlformats.org/drawingml/2006/main" noGrp="1"/>
          </p:cNvSpPr>
          <p:nvPr/>
        </p:nvSpPr>
        <p:spPr>
          <a:xfrm xmlns:a="http://schemas.openxmlformats.org/drawingml/2006/main">
            <a:off x="609600" y="2857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75" b="1">
                <a:solidFill>
                  <a:srgbClr val="315F50"/>
                </a:solidFill>
                <a:latin typeface="Arial"/>
                <a:ea typeface="Arial"/>
                <a:cs typeface="Arial"/>
              </a:defRPr>
            </a:pPr>
            <a:r>
              <a:rPr sz="1275" b="1">
                <a:solidFill>
                  <a:srgbClr val="315F50"/>
                </a:solidFill>
                <a:latin typeface="Arial"/>
                <a:ea typeface="Arial"/>
                <a:cs typeface="Arial"/>
              </a:rPr>
              <a:t>JUNIPER SALON</a:t>
            </a:r>
          </a:p>
        </p:txBody>
      </p:sp>
      <p:sp>
        <p:nvSpPr>
          <p:cNvPr id="2" name="">
            <a:extLst xmlns:a="http://schemas.openxmlformats.org/drawingml/2006/main">
              <a:ext uri="{FF2B5EF4-FFF2-40B4-BE49-F238E27FC236}">
                <a16:creationId xmlns:a16="http://schemas.microsoft.com/office/drawing/2014/main" id="{E5538EC4-D4A9-4C0C-979F-90C60B9BC974}"/>
              </a:ext>
            </a:extLst>
          </p:cNvPr>
          <p:cNvSpPr>
            <a:spLocks xmlns:a="http://schemas.openxmlformats.org/drawingml/2006/main" noGrp="1"/>
          </p:cNvSpPr>
          <p:nvPr/>
        </p:nvSpPr>
        <p:spPr>
          <a:xfrm xmlns:a="http://schemas.openxmlformats.org/drawingml/2006/main">
            <a:off x="11144250" y="28575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75" b="0">
                <a:solidFill>
                  <a:srgbClr val="687068"/>
                </a:solidFill>
                <a:latin typeface="Arial"/>
                <a:ea typeface="Arial"/>
                <a:cs typeface="Arial"/>
              </a:defRPr>
            </a:pPr>
            <a:r>
              <a:rPr sz="1275" b="0">
                <a:solidFill>
                  <a:srgbClr val="687068"/>
                </a:solidFill>
                <a:latin typeface="Arial"/>
                <a:ea typeface="Arial"/>
                <a:cs typeface="Arial"/>
              </a:rPr>
              <a:t>03</a:t>
            </a:r>
          </a:p>
        </p:txBody>
      </p:sp>
      <p:sp>
        <p:nvSpPr>
          <p:cNvPr id="3" name="">
            <a:extLst xmlns:a="http://schemas.openxmlformats.org/drawingml/2006/main">
              <a:ext uri="{FF2B5EF4-FFF2-40B4-BE49-F238E27FC236}">
                <a16:creationId xmlns:a16="http://schemas.microsoft.com/office/drawing/2014/main" id="{732EB291-DF20-4D7E-A483-2EC2CFE37941}"/>
              </a:ext>
            </a:extLst>
          </p:cNvPr>
          <p:cNvSpPr>
            <a:spLocks xmlns:a="http://schemas.openxmlformats.org/drawingml/2006/main" noGrp="1"/>
          </p:cNvSpPr>
          <p:nvPr/>
        </p:nvSpPr>
        <p:spPr>
          <a:xfrm xmlns:a="http://schemas.openxmlformats.org/drawingml/2006/main">
            <a:off x="609600" y="78105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75" b="0">
                <a:solidFill>
                  <a:srgbClr val="253B32"/>
                </a:solidFill>
                <a:latin typeface="Georgia"/>
                <a:ea typeface="Georgia"/>
                <a:cs typeface="Georgia"/>
              </a:defRPr>
            </a:pPr>
            <a:r>
              <a:rPr sz="3675" b="0">
                <a:solidFill>
                  <a:srgbClr val="253B32"/>
                </a:solidFill>
                <a:latin typeface="Georgia"/>
                <a:ea typeface="Georgia"/>
                <a:cs typeface="Georgia"/>
              </a:rPr>
              <a:t>Saturday, resolved</a:t>
            </a:r>
          </a:p>
        </p:txBody>
      </p:sp>
      <p:sp>
        <p:nvSpPr>
          <p:cNvPr id="4" name="">
            <a:extLst xmlns:a="http://schemas.openxmlformats.org/drawingml/2006/main">
              <a:ext uri="{FF2B5EF4-FFF2-40B4-BE49-F238E27FC236}">
                <a16:creationId xmlns:a16="http://schemas.microsoft.com/office/drawing/2014/main" id="{D8DA2269-BEDF-43B2-BEAD-649FFBF7D33B}"/>
              </a:ext>
            </a:extLst>
          </p:cNvPr>
          <p:cNvSpPr>
            <a:spLocks xmlns:a="http://schemas.openxmlformats.org/drawingml/2006/main" noGrp="1"/>
          </p:cNvSpPr>
          <p:nvPr/>
        </p:nvSpPr>
        <p:spPr>
          <a:xfrm xmlns:a="http://schemas.openxmlformats.org/drawingml/2006/main">
            <a:off x="619125" y="1809750"/>
            <a:ext cx="762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225" b="0">
                <a:solidFill>
                  <a:srgbClr val="9A533C"/>
                </a:solidFill>
                <a:latin typeface="Georgia"/>
                <a:ea typeface="Georgia"/>
                <a:cs typeface="Georgia"/>
              </a:defRPr>
            </a:pPr>
            <a:r>
              <a:rPr sz="3225" b="0">
                <a:solidFill>
                  <a:srgbClr val="9A533C"/>
                </a:solidFill>
                <a:latin typeface="Georgia"/>
                <a:ea typeface="Georgia"/>
                <a:cs typeface="Georgia"/>
              </a:rPr>
              <a:t>01</a:t>
            </a:r>
          </a:p>
        </p:txBody>
      </p:sp>
      <p:sp>
        <p:nvSpPr>
          <p:cNvPr id="5" name="">
            <a:extLst xmlns:a="http://schemas.openxmlformats.org/drawingml/2006/main">
              <a:ext uri="{FF2B5EF4-FFF2-40B4-BE49-F238E27FC236}">
                <a16:creationId xmlns:a16="http://schemas.microsoft.com/office/drawing/2014/main" id="{FBAA3422-A72D-4577-B539-67ACC5F6627B}"/>
              </a:ext>
            </a:extLst>
          </p:cNvPr>
          <p:cNvSpPr>
            <a:spLocks xmlns:a="http://schemas.openxmlformats.org/drawingml/2006/main" noGrp="1"/>
          </p:cNvSpPr>
          <p:nvPr/>
        </p:nvSpPr>
        <p:spPr>
          <a:xfrm xmlns:a="http://schemas.openxmlformats.org/drawingml/2006/main">
            <a:off x="1495425" y="1876425"/>
            <a:ext cx="571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1">
                <a:solidFill>
                  <a:srgbClr val="253B32"/>
                </a:solidFill>
                <a:latin typeface="Arial"/>
                <a:ea typeface="Arial"/>
                <a:cs typeface="Arial"/>
              </a:defRPr>
            </a:pPr>
            <a:r>
              <a:rPr sz="2250" b="1">
                <a:solidFill>
                  <a:srgbClr val="253B32"/>
                </a:solidFill>
                <a:latin typeface="Arial"/>
                <a:ea typeface="Arial"/>
                <a:cs typeface="Arial"/>
              </a:rPr>
              <a:t>Maya’s offer expires</a:t>
            </a:r>
          </a:p>
        </p:txBody>
      </p:sp>
      <p:sp>
        <p:nvSpPr>
          <p:cNvPr id="6" name="">
            <a:extLst xmlns:a="http://schemas.openxmlformats.org/drawingml/2006/main">
              <a:ext uri="{FF2B5EF4-FFF2-40B4-BE49-F238E27FC236}">
                <a16:creationId xmlns:a16="http://schemas.microsoft.com/office/drawing/2014/main" id="{F738A9B8-7360-4027-BD52-22670A97A816}"/>
              </a:ext>
            </a:extLst>
          </p:cNvPr>
          <p:cNvSpPr>
            <a:spLocks xmlns:a="http://schemas.openxmlformats.org/drawingml/2006/main" noGrp="1"/>
          </p:cNvSpPr>
          <p:nvPr/>
        </p:nvSpPr>
        <p:spPr>
          <a:xfrm xmlns:a="http://schemas.openxmlformats.org/drawingml/2006/main">
            <a:off x="619125" y="2543175"/>
            <a:ext cx="762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225" b="0">
                <a:solidFill>
                  <a:srgbClr val="315F50"/>
                </a:solidFill>
                <a:latin typeface="Georgia"/>
                <a:ea typeface="Georgia"/>
                <a:cs typeface="Georgia"/>
              </a:defRPr>
            </a:pPr>
            <a:r>
              <a:rPr sz="3225" b="0">
                <a:solidFill>
                  <a:srgbClr val="315F50"/>
                </a:solidFill>
                <a:latin typeface="Georgia"/>
                <a:ea typeface="Georgia"/>
                <a:cs typeface="Georgia"/>
              </a:rPr>
              <a:t>02</a:t>
            </a:r>
          </a:p>
        </p:txBody>
      </p:sp>
      <p:sp>
        <p:nvSpPr>
          <p:cNvPr id="7" name="">
            <a:extLst xmlns:a="http://schemas.openxmlformats.org/drawingml/2006/main">
              <a:ext uri="{FF2B5EF4-FFF2-40B4-BE49-F238E27FC236}">
                <a16:creationId xmlns:a16="http://schemas.microsoft.com/office/drawing/2014/main" id="{ACB7FE42-CEF5-44EF-9C67-AD16D452DBDF}"/>
              </a:ext>
            </a:extLst>
          </p:cNvPr>
          <p:cNvSpPr>
            <a:spLocks xmlns:a="http://schemas.openxmlformats.org/drawingml/2006/main" noGrp="1"/>
          </p:cNvSpPr>
          <p:nvPr/>
        </p:nvSpPr>
        <p:spPr>
          <a:xfrm xmlns:a="http://schemas.openxmlformats.org/drawingml/2006/main">
            <a:off x="1495425" y="2609850"/>
            <a:ext cx="704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1">
                <a:solidFill>
                  <a:srgbClr val="253B32"/>
                </a:solidFill>
                <a:latin typeface="Arial"/>
                <a:ea typeface="Arial"/>
                <a:cs typeface="Arial"/>
              </a:defRPr>
            </a:pPr>
            <a:r>
              <a:rPr sz="2250" b="1">
                <a:solidFill>
                  <a:srgbClr val="253B32"/>
                </a:solidFill>
                <a:latin typeface="Arial"/>
                <a:ea typeface="Arial"/>
                <a:cs typeface="Arial"/>
              </a:rPr>
              <a:t>Alex receives the exclusive hold</a:t>
            </a:r>
          </a:p>
        </p:txBody>
      </p:sp>
      <p:sp>
        <p:nvSpPr>
          <p:cNvPr id="8" name="">
            <a:extLst xmlns:a="http://schemas.openxmlformats.org/drawingml/2006/main">
              <a:ext uri="{FF2B5EF4-FFF2-40B4-BE49-F238E27FC236}">
                <a16:creationId xmlns:a16="http://schemas.microsoft.com/office/drawing/2014/main" id="{6C1B42C3-D4F1-439F-A0F6-7CD520D86E7C}"/>
              </a:ext>
            </a:extLst>
          </p:cNvPr>
          <p:cNvSpPr>
            <a:spLocks xmlns:a="http://schemas.openxmlformats.org/drawingml/2006/main" noGrp="1"/>
          </p:cNvSpPr>
          <p:nvPr/>
        </p:nvSpPr>
        <p:spPr>
          <a:xfrm xmlns:a="http://schemas.openxmlformats.org/drawingml/2006/main">
            <a:off x="619125" y="3276600"/>
            <a:ext cx="762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225" b="0">
                <a:solidFill>
                  <a:srgbClr val="315F50"/>
                </a:solidFill>
                <a:latin typeface="Georgia"/>
                <a:ea typeface="Georgia"/>
                <a:cs typeface="Georgia"/>
              </a:defRPr>
            </a:pPr>
            <a:r>
              <a:rPr sz="3225" b="0">
                <a:solidFill>
                  <a:srgbClr val="315F50"/>
                </a:solidFill>
                <a:latin typeface="Georgia"/>
                <a:ea typeface="Georgia"/>
                <a:cs typeface="Georgia"/>
              </a:rPr>
              <a:t>03</a:t>
            </a:r>
          </a:p>
        </p:txBody>
      </p:sp>
      <p:sp>
        <p:nvSpPr>
          <p:cNvPr id="9" name="">
            <a:extLst xmlns:a="http://schemas.openxmlformats.org/drawingml/2006/main">
              <a:ext uri="{FF2B5EF4-FFF2-40B4-BE49-F238E27FC236}">
                <a16:creationId xmlns:a16="http://schemas.microsoft.com/office/drawing/2014/main" id="{0EFF072F-980A-445B-BDD4-40A59B166C1F}"/>
              </a:ext>
            </a:extLst>
          </p:cNvPr>
          <p:cNvSpPr>
            <a:spLocks xmlns:a="http://schemas.openxmlformats.org/drawingml/2006/main" noGrp="1"/>
          </p:cNvSpPr>
          <p:nvPr/>
        </p:nvSpPr>
        <p:spPr>
          <a:xfrm xmlns:a="http://schemas.openxmlformats.org/drawingml/2006/main">
            <a:off x="1495425" y="3343275"/>
            <a:ext cx="704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1">
                <a:solidFill>
                  <a:srgbClr val="253B32"/>
                </a:solidFill>
                <a:latin typeface="Arial"/>
                <a:ea typeface="Arial"/>
                <a:cs typeface="Arial"/>
              </a:defRPr>
            </a:pPr>
            <a:r>
              <a:rPr sz="2250" b="1">
                <a:solidFill>
                  <a:srgbClr val="253B32"/>
                </a:solidFill>
                <a:latin typeface="Arial"/>
                <a:ea typeface="Arial"/>
                <a:cs typeface="Arial"/>
              </a:rPr>
              <a:t>Maya replies late as Alex accepts</a:t>
            </a:r>
          </a:p>
        </p:txBody>
      </p:sp>
      <p:sp>
        <p:nvSpPr>
          <p:cNvPr id="10" name="">
            <a:extLst xmlns:a="http://schemas.openxmlformats.org/drawingml/2006/main">
              <a:ext uri="{FF2B5EF4-FFF2-40B4-BE49-F238E27FC236}">
                <a16:creationId xmlns:a16="http://schemas.microsoft.com/office/drawing/2014/main" id="{95556ACF-DD87-4B71-9157-8FBA929281AB}"/>
              </a:ext>
            </a:extLst>
          </p:cNvPr>
          <p:cNvSpPr>
            <a:spLocks xmlns:a="http://schemas.openxmlformats.org/drawingml/2006/main" noGrp="1"/>
          </p:cNvSpPr>
          <p:nvPr/>
        </p:nvSpPr>
        <p:spPr>
          <a:xfrm xmlns:a="http://schemas.openxmlformats.org/drawingml/2006/main">
            <a:off x="9629775" y="1685925"/>
            <a:ext cx="15240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300" b="0">
                <a:solidFill>
                  <a:srgbClr val="315F50"/>
                </a:solidFill>
                <a:latin typeface="Georgia"/>
                <a:ea typeface="Georgia"/>
                <a:cs typeface="Georgia"/>
              </a:defRPr>
            </a:pPr>
            <a:r>
              <a:rPr sz="9300" b="0">
                <a:solidFill>
                  <a:srgbClr val="315F50"/>
                </a:solidFill>
                <a:latin typeface="Georgia"/>
                <a:ea typeface="Georgia"/>
                <a:cs typeface="Georgia"/>
              </a:rPr>
              <a:t>1</a:t>
            </a:r>
          </a:p>
        </p:txBody>
      </p:sp>
      <p:sp>
        <p:nvSpPr>
          <p:cNvPr id="11" name="">
            <a:extLst xmlns:a="http://schemas.openxmlformats.org/drawingml/2006/main">
              <a:ext uri="{FF2B5EF4-FFF2-40B4-BE49-F238E27FC236}">
                <a16:creationId xmlns:a16="http://schemas.microsoft.com/office/drawing/2014/main" id="{E27D7378-92A9-47FD-8EF8-2412E04927C1}"/>
              </a:ext>
            </a:extLst>
          </p:cNvPr>
          <p:cNvSpPr>
            <a:spLocks xmlns:a="http://schemas.openxmlformats.org/drawingml/2006/main" noGrp="1"/>
          </p:cNvSpPr>
          <p:nvPr/>
        </p:nvSpPr>
        <p:spPr>
          <a:xfrm xmlns:a="http://schemas.openxmlformats.org/drawingml/2006/main">
            <a:off x="9077325" y="3038475"/>
            <a:ext cx="2476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0">
                <a:solidFill>
                  <a:srgbClr val="315F50"/>
                </a:solidFill>
                <a:latin typeface="Arial"/>
                <a:ea typeface="Arial"/>
                <a:cs typeface="Arial"/>
              </a:defRPr>
            </a:pPr>
            <a:r>
              <a:rPr sz="2325" b="0">
                <a:solidFill>
                  <a:srgbClr val="315F50"/>
                </a:solidFill>
                <a:latin typeface="Arial"/>
                <a:ea typeface="Arial"/>
                <a:cs typeface="Arial"/>
              </a:rPr>
              <a:t>confirmed</a:t>
            </a:r>
          </a:p>
          <a:p xmlns:a="http://schemas.openxmlformats.org/drawingml/2006/main">
            <a:pPr>
              <a:defRPr sz="2325" b="0">
                <a:solidFill>
                  <a:srgbClr val="315F50"/>
                </a:solidFill>
                <a:latin typeface="Arial"/>
                <a:ea typeface="Arial"/>
                <a:cs typeface="Arial"/>
              </a:defRPr>
            </a:pPr>
            <a:r>
              <a:rPr sz="2325" b="0">
                <a:solidFill>
                  <a:srgbClr val="315F50"/>
                </a:solidFill>
                <a:latin typeface="Arial"/>
                <a:ea typeface="Arial"/>
                <a:cs typeface="Arial"/>
              </a:rPr>
              <a:t>booking</a:t>
            </a:r>
          </a:p>
        </p:txBody>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72ebe622478641b6"/>
          <a:stretch xmlns:a="http://schemas.openxmlformats.org/drawingml/2006/main"/>
        </p:blipFill>
        <p:spPr>
          <a:xfrm xmlns:a="http://schemas.openxmlformats.org/drawingml/2006/main">
            <a:off x="609600" y="4393604"/>
            <a:ext cx="10972800" cy="1271191"/>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04DA9213-EBBE-4258-B9DA-034C8E5602D8}"/>
              </a:ext>
            </a:extLst>
          </p:cNvPr>
          <p:cNvSpPr>
            <a:spLocks xmlns:a="http://schemas.openxmlformats.org/drawingml/2006/main" noGrp="1"/>
          </p:cNvSpPr>
          <p:nvPr/>
        </p:nvSpPr>
        <p:spPr>
          <a:xfrm xmlns:a="http://schemas.openxmlformats.org/drawingml/2006/main">
            <a:off x="609600" y="596265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0">
                <a:solidFill>
                  <a:srgbClr val="253B32"/>
                </a:solidFill>
                <a:latin typeface="Arial"/>
                <a:ea typeface="Arial"/>
                <a:cs typeface="Arial"/>
              </a:defRPr>
            </a:pPr>
            <a:r>
              <a:rPr sz="2100" b="0">
                <a:solidFill>
                  <a:srgbClr val="253B32"/>
                </a:solidFill>
                <a:latin typeface="Arial"/>
                <a:ea typeface="Arial"/>
                <a:cs typeface="Arial"/>
              </a:rPr>
              <a:t>Maya’s late reply stays in history. Only Alex gets the opening.</a:t>
            </a:r>
          </a:p>
        </p:txBody>
      </p:sp>
    </p:spTree>
    <p:extLst>
      <p:ext uri="{BB962C8B-B14F-4D97-AF65-F5344CB8AC3E}">
        <p14:creationId xmlns:p14="http://schemas.microsoft.com/office/powerpoint/2010/main" val="1866641535"/>
      </p:ext>
    </p:extLst>
  </p:cSld>
</p:sld>
</file>

<file path=ppt/slides/slide4.xml><?xml version="1.0" encoding="utf-8"?>
<p:sld xmlns:p="http://schemas.openxmlformats.org/presentationml/2006/main">
  <p:cSld>
    <p:bg>
      <p:bgPr>
        <a:solidFill xmlns:a="http://schemas.openxmlformats.org/drawingml/2006/main">
          <a:srgbClr val="F4F3EE"/>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06032792-EDD6-4ED9-B985-6F17D9606CF7}"/>
              </a:ext>
            </a:extLst>
          </p:cNvPr>
          <p:cNvSpPr>
            <a:spLocks xmlns:a="http://schemas.openxmlformats.org/drawingml/2006/main" noGrp="1"/>
          </p:cNvSpPr>
          <p:nvPr/>
        </p:nvSpPr>
        <p:spPr>
          <a:xfrm xmlns:a="http://schemas.openxmlformats.org/drawingml/2006/main">
            <a:off x="609600" y="2857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75" b="1">
                <a:solidFill>
                  <a:srgbClr val="315F50"/>
                </a:solidFill>
                <a:latin typeface="Arial"/>
                <a:ea typeface="Arial"/>
                <a:cs typeface="Arial"/>
              </a:defRPr>
            </a:pPr>
            <a:r>
              <a:rPr sz="1275" b="1">
                <a:solidFill>
                  <a:srgbClr val="315F50"/>
                </a:solidFill>
                <a:latin typeface="Arial"/>
                <a:ea typeface="Arial"/>
                <a:cs typeface="Arial"/>
              </a:rPr>
              <a:t>JUNIPER SALON</a:t>
            </a:r>
          </a:p>
        </p:txBody>
      </p:sp>
      <p:sp>
        <p:nvSpPr>
          <p:cNvPr id="2" name="">
            <a:extLst xmlns:a="http://schemas.openxmlformats.org/drawingml/2006/main">
              <a:ext uri="{FF2B5EF4-FFF2-40B4-BE49-F238E27FC236}">
                <a16:creationId xmlns:a16="http://schemas.microsoft.com/office/drawing/2014/main" id="{8E08E8C2-1DC5-44D4-875E-3A404462AFDC}"/>
              </a:ext>
            </a:extLst>
          </p:cNvPr>
          <p:cNvSpPr>
            <a:spLocks xmlns:a="http://schemas.openxmlformats.org/drawingml/2006/main" noGrp="1"/>
          </p:cNvSpPr>
          <p:nvPr/>
        </p:nvSpPr>
        <p:spPr>
          <a:xfrm xmlns:a="http://schemas.openxmlformats.org/drawingml/2006/main">
            <a:off x="11144250" y="28575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75" b="0">
                <a:solidFill>
                  <a:srgbClr val="687068"/>
                </a:solidFill>
                <a:latin typeface="Arial"/>
                <a:ea typeface="Arial"/>
                <a:cs typeface="Arial"/>
              </a:defRPr>
            </a:pPr>
            <a:r>
              <a:rPr sz="1275" b="0">
                <a:solidFill>
                  <a:srgbClr val="687068"/>
                </a:solidFill>
                <a:latin typeface="Arial"/>
                <a:ea typeface="Arial"/>
                <a:cs typeface="Arial"/>
              </a:rPr>
              <a:t>04</a:t>
            </a:r>
          </a:p>
        </p:txBody>
      </p:sp>
      <p:sp>
        <p:nvSpPr>
          <p:cNvPr id="3" name="">
            <a:extLst xmlns:a="http://schemas.openxmlformats.org/drawingml/2006/main">
              <a:ext uri="{FF2B5EF4-FFF2-40B4-BE49-F238E27FC236}">
                <a16:creationId xmlns:a16="http://schemas.microsoft.com/office/drawing/2014/main" id="{C9B21C67-60D3-4D61-BAB5-5157BCCF8A9A}"/>
              </a:ext>
            </a:extLst>
          </p:cNvPr>
          <p:cNvSpPr>
            <a:spLocks xmlns:a="http://schemas.openxmlformats.org/drawingml/2006/main" noGrp="1"/>
          </p:cNvSpPr>
          <p:nvPr/>
        </p:nvSpPr>
        <p:spPr>
          <a:xfrm xmlns:a="http://schemas.openxmlformats.org/drawingml/2006/main">
            <a:off x="609600" y="78105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75" b="0">
                <a:solidFill>
                  <a:srgbClr val="253B32"/>
                </a:solidFill>
                <a:latin typeface="Georgia"/>
                <a:ea typeface="Georgia"/>
                <a:cs typeface="Georgia"/>
              </a:defRPr>
            </a:pPr>
            <a:r>
              <a:rPr sz="3675" b="0">
                <a:solidFill>
                  <a:srgbClr val="253B32"/>
                </a:solidFill>
                <a:latin typeface="Georgia"/>
                <a:ea typeface="Georgia"/>
                <a:cs typeface="Georgia"/>
              </a:rPr>
              <a:t>Temporal keeps the offer moving</a:t>
            </a:r>
          </a:p>
        </p:txBody>
      </p:sp>
      <p:sp>
        <p:nvSpPr>
          <p:cNvPr id="4" name="">
            <a:extLst xmlns:a="http://schemas.openxmlformats.org/drawingml/2006/main">
              <a:ext uri="{FF2B5EF4-FFF2-40B4-BE49-F238E27FC236}">
                <a16:creationId xmlns:a16="http://schemas.microsoft.com/office/drawing/2014/main" id="{EB7C559F-CDA2-49B3-9D73-2D51F84F0723}"/>
              </a:ext>
            </a:extLst>
          </p:cNvPr>
          <p:cNvSpPr>
            <a:spLocks xmlns:a="http://schemas.openxmlformats.org/drawingml/2006/main" noGrp="1"/>
          </p:cNvSpPr>
          <p:nvPr/>
        </p:nvSpPr>
        <p:spPr>
          <a:xfrm xmlns:a="http://schemas.openxmlformats.org/drawingml/2006/main">
            <a:off x="609600" y="1819275"/>
            <a:ext cx="3286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700" b="0">
                <a:solidFill>
                  <a:srgbClr val="315F50"/>
                </a:solidFill>
                <a:latin typeface="Georgia"/>
                <a:ea typeface="Georgia"/>
                <a:cs typeface="Georgia"/>
              </a:defRPr>
            </a:pPr>
            <a:r>
              <a:rPr sz="2700" b="0">
                <a:solidFill>
                  <a:srgbClr val="315F50"/>
                </a:solidFill>
                <a:latin typeface="Georgia"/>
                <a:ea typeface="Georgia"/>
                <a:cs typeface="Georgia"/>
              </a:rPr>
              <a:t>Wait</a:t>
            </a:r>
          </a:p>
        </p:txBody>
      </p:sp>
      <p:sp>
        <p:nvSpPr>
          <p:cNvPr id="5" name="">
            <a:extLst xmlns:a="http://schemas.openxmlformats.org/drawingml/2006/main">
              <a:ext uri="{FF2B5EF4-FFF2-40B4-BE49-F238E27FC236}">
                <a16:creationId xmlns:a16="http://schemas.microsoft.com/office/drawing/2014/main" id="{D492DC8B-492C-4DE5-AC4E-D40C89F94B4F}"/>
              </a:ext>
            </a:extLst>
          </p:cNvPr>
          <p:cNvSpPr>
            <a:spLocks xmlns:a="http://schemas.openxmlformats.org/drawingml/2006/main" noGrp="1"/>
          </p:cNvSpPr>
          <p:nvPr/>
        </p:nvSpPr>
        <p:spPr>
          <a:xfrm xmlns:a="http://schemas.openxmlformats.org/drawingml/2006/main">
            <a:off x="609600" y="2390775"/>
            <a:ext cx="3238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253B32"/>
                </a:solidFill>
                <a:latin typeface="Arial"/>
                <a:ea typeface="Arial"/>
                <a:cs typeface="Arial"/>
              </a:defRPr>
            </a:pPr>
            <a:r>
              <a:rPr sz="2025" b="0">
                <a:solidFill>
                  <a:srgbClr val="253B32"/>
                </a:solidFill>
                <a:latin typeface="Arial"/>
                <a:ea typeface="Arial"/>
                <a:cs typeface="Arial"/>
              </a:rPr>
              <a:t>The deadline survives</a:t>
            </a:r>
          </a:p>
          <a:p xmlns:a="http://schemas.openxmlformats.org/drawingml/2006/main">
            <a:pPr>
              <a:defRPr sz="2025" b="0">
                <a:solidFill>
                  <a:srgbClr val="253B32"/>
                </a:solidFill>
                <a:latin typeface="Arial"/>
                <a:ea typeface="Arial"/>
                <a:cs typeface="Arial"/>
              </a:defRPr>
            </a:pPr>
            <a:r>
              <a:rPr sz="2025" b="0">
                <a:solidFill>
                  <a:srgbClr val="253B32"/>
                </a:solidFill>
                <a:latin typeface="Arial"/>
                <a:ea typeface="Arial"/>
                <a:cs typeface="Arial"/>
              </a:rPr>
              <a:t>closing the browser.</a:t>
            </a:r>
          </a:p>
        </p:txBody>
      </p:sp>
      <p:sp>
        <p:nvSpPr>
          <p:cNvPr id="6" name="">
            <a:extLst xmlns:a="http://schemas.openxmlformats.org/drawingml/2006/main">
              <a:ext uri="{FF2B5EF4-FFF2-40B4-BE49-F238E27FC236}">
                <a16:creationId xmlns:a16="http://schemas.microsoft.com/office/drawing/2014/main" id="{1D4060DF-BB8B-4E0C-820D-423798F5C12F}"/>
              </a:ext>
            </a:extLst>
          </p:cNvPr>
          <p:cNvSpPr>
            <a:spLocks xmlns:a="http://schemas.openxmlformats.org/drawingml/2006/main" noGrp="1"/>
          </p:cNvSpPr>
          <p:nvPr/>
        </p:nvSpPr>
        <p:spPr>
          <a:xfrm xmlns:a="http://schemas.openxmlformats.org/drawingml/2006/main">
            <a:off x="4352925" y="1819275"/>
            <a:ext cx="3286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700" b="0">
                <a:solidFill>
                  <a:srgbClr val="315F50"/>
                </a:solidFill>
                <a:latin typeface="Georgia"/>
                <a:ea typeface="Georgia"/>
                <a:cs typeface="Georgia"/>
              </a:defRPr>
            </a:pPr>
            <a:r>
              <a:rPr sz="2700" b="0">
                <a:solidFill>
                  <a:srgbClr val="315F50"/>
                </a:solidFill>
                <a:latin typeface="Georgia"/>
                <a:ea typeface="Georgia"/>
                <a:cs typeface="Georgia"/>
              </a:rPr>
              <a:t>Resume</a:t>
            </a:r>
          </a:p>
        </p:txBody>
      </p:sp>
      <p:sp>
        <p:nvSpPr>
          <p:cNvPr id="7" name="">
            <a:extLst xmlns:a="http://schemas.openxmlformats.org/drawingml/2006/main">
              <a:ext uri="{FF2B5EF4-FFF2-40B4-BE49-F238E27FC236}">
                <a16:creationId xmlns:a16="http://schemas.microsoft.com/office/drawing/2014/main" id="{1798EA54-65B9-4559-A796-9C2B095EE184}"/>
              </a:ext>
            </a:extLst>
          </p:cNvPr>
          <p:cNvSpPr>
            <a:spLocks xmlns:a="http://schemas.openxmlformats.org/drawingml/2006/main" noGrp="1"/>
          </p:cNvSpPr>
          <p:nvPr/>
        </p:nvSpPr>
        <p:spPr>
          <a:xfrm xmlns:a="http://schemas.openxmlformats.org/drawingml/2006/main">
            <a:off x="4352925" y="2390775"/>
            <a:ext cx="33051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253B32"/>
                </a:solidFill>
                <a:latin typeface="Arial"/>
                <a:ea typeface="Arial"/>
                <a:cs typeface="Arial"/>
              </a:defRPr>
            </a:pPr>
            <a:r>
              <a:rPr sz="2025" b="0">
                <a:solidFill>
                  <a:srgbClr val="253B32"/>
                </a:solidFill>
                <a:latin typeface="Arial"/>
                <a:ea typeface="Arial"/>
                <a:cs typeface="Arial"/>
              </a:rPr>
              <a:t>After a Worker restart,</a:t>
            </a:r>
          </a:p>
          <a:p xmlns:a="http://schemas.openxmlformats.org/drawingml/2006/main">
            <a:pPr>
              <a:defRPr sz="2025" b="0">
                <a:solidFill>
                  <a:srgbClr val="253B32"/>
                </a:solidFill>
                <a:latin typeface="Arial"/>
                <a:ea typeface="Arial"/>
                <a:cs typeface="Arial"/>
              </a:defRPr>
            </a:pPr>
            <a:r>
              <a:rPr sz="2025" b="0">
                <a:solidFill>
                  <a:srgbClr val="253B32"/>
                </a:solidFill>
                <a:latin typeface="Arial"/>
                <a:ea typeface="Arial"/>
                <a:cs typeface="Arial"/>
              </a:rPr>
              <a:t>the process continues.</a:t>
            </a:r>
          </a:p>
        </p:txBody>
      </p:sp>
      <p:sp>
        <p:nvSpPr>
          <p:cNvPr id="8" name="">
            <a:extLst xmlns:a="http://schemas.openxmlformats.org/drawingml/2006/main">
              <a:ext uri="{FF2B5EF4-FFF2-40B4-BE49-F238E27FC236}">
                <a16:creationId xmlns:a16="http://schemas.microsoft.com/office/drawing/2014/main" id="{0F7F823C-32E2-48A3-A1FF-70A28BA589CA}"/>
              </a:ext>
            </a:extLst>
          </p:cNvPr>
          <p:cNvSpPr>
            <a:spLocks xmlns:a="http://schemas.openxmlformats.org/drawingml/2006/main" noGrp="1"/>
          </p:cNvSpPr>
          <p:nvPr/>
        </p:nvSpPr>
        <p:spPr>
          <a:xfrm xmlns:a="http://schemas.openxmlformats.org/drawingml/2006/main">
            <a:off x="8124825" y="1819275"/>
            <a:ext cx="3381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700" b="0">
                <a:solidFill>
                  <a:srgbClr val="315F50"/>
                </a:solidFill>
                <a:latin typeface="Georgia"/>
                <a:ea typeface="Georgia"/>
                <a:cs typeface="Georgia"/>
              </a:defRPr>
            </a:pPr>
            <a:r>
              <a:rPr sz="2700" b="0">
                <a:solidFill>
                  <a:srgbClr val="315F50"/>
                </a:solidFill>
                <a:latin typeface="Georgia"/>
                <a:ea typeface="Georgia"/>
                <a:cs typeface="Georgia"/>
              </a:rPr>
              <a:t>Protect</a:t>
            </a:r>
          </a:p>
        </p:txBody>
      </p:sp>
      <p:sp>
        <p:nvSpPr>
          <p:cNvPr id="9" name="">
            <a:extLst xmlns:a="http://schemas.openxmlformats.org/drawingml/2006/main">
              <a:ext uri="{FF2B5EF4-FFF2-40B4-BE49-F238E27FC236}">
                <a16:creationId xmlns:a16="http://schemas.microsoft.com/office/drawing/2014/main" id="{77776667-DDCA-41B4-8606-F056ADBED8E4}"/>
              </a:ext>
            </a:extLst>
          </p:cNvPr>
          <p:cNvSpPr>
            <a:spLocks xmlns:a="http://schemas.openxmlformats.org/drawingml/2006/main" noGrp="1"/>
          </p:cNvSpPr>
          <p:nvPr/>
        </p:nvSpPr>
        <p:spPr>
          <a:xfrm xmlns:a="http://schemas.openxmlformats.org/drawingml/2006/main">
            <a:off x="8124825" y="2390775"/>
            <a:ext cx="342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253B32"/>
                </a:solidFill>
                <a:latin typeface="Arial"/>
                <a:ea typeface="Arial"/>
                <a:cs typeface="Arial"/>
              </a:defRPr>
            </a:pPr>
            <a:r>
              <a:rPr sz="2025" b="0">
                <a:solidFill>
                  <a:srgbClr val="253B32"/>
                </a:solidFill>
                <a:latin typeface="Arial"/>
                <a:ea typeface="Arial"/>
                <a:cs typeface="Arial"/>
              </a:rPr>
              <a:t>Every reply checks the</a:t>
            </a:r>
          </a:p>
          <a:p xmlns:a="http://schemas.openxmlformats.org/drawingml/2006/main">
            <a:pPr>
              <a:defRPr sz="2025" b="0">
                <a:solidFill>
                  <a:srgbClr val="253B32"/>
                </a:solidFill>
                <a:latin typeface="Arial"/>
                <a:ea typeface="Arial"/>
                <a:cs typeface="Arial"/>
              </a:defRPr>
            </a:pPr>
            <a:r>
              <a:rPr sz="2025" b="0">
                <a:solidFill>
                  <a:srgbClr val="253B32"/>
                </a:solidFill>
                <a:latin typeface="Arial"/>
                <a:ea typeface="Arial"/>
                <a:cs typeface="Arial"/>
              </a:rPr>
              <a:t>active offer and deadline.</a:t>
            </a:r>
          </a:p>
        </p:txBody>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6e0f90ca549f44fc"/>
          <a:stretch xmlns:a="http://schemas.openxmlformats.org/drawingml/2006/main"/>
        </p:blipFill>
        <p:spPr>
          <a:xfrm xmlns:a="http://schemas.openxmlformats.org/drawingml/2006/main">
            <a:off x="805543" y="3543300"/>
            <a:ext cx="10580914" cy="2314575"/>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82F5F567-5A96-44D1-BC91-823167326A4A}"/>
              </a:ext>
            </a:extLst>
          </p:cNvPr>
          <p:cNvSpPr>
            <a:spLocks xmlns:a="http://schemas.openxmlformats.org/drawingml/2006/main" noGrp="1"/>
          </p:cNvSpPr>
          <p:nvPr/>
        </p:nvSpPr>
        <p:spPr>
          <a:xfrm xmlns:a="http://schemas.openxmlformats.org/drawingml/2006/main">
            <a:off x="609600" y="6143625"/>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1">
                <a:solidFill>
                  <a:srgbClr val="315F50"/>
                </a:solidFill>
                <a:latin typeface="Arial"/>
                <a:ea typeface="Arial"/>
                <a:cs typeface="Arial"/>
              </a:defRPr>
            </a:pPr>
            <a:r>
              <a:rPr sz="1875" b="1">
                <a:solidFill>
                  <a:srgbClr val="315F50"/>
                </a:solidFill>
                <a:latin typeface="Arial"/>
                <a:ea typeface="Arial"/>
                <a:cs typeface="Arial"/>
              </a:rPr>
              <a:t>10-second demo offers. Square, Sheets and SMS are simulated.</a:t>
            </a:r>
          </a:p>
        </p:txBody>
      </p:sp>
    </p:spTree>
    <p:extLst>
      <p:ext uri="{BB962C8B-B14F-4D97-AF65-F5344CB8AC3E}">
        <p14:creationId xmlns:p14="http://schemas.microsoft.com/office/powerpoint/2010/main" val="1300025843"/>
      </p:ext>
    </p:extLst>
  </p:cSld>
</p:sld>
</file>

<file path=ppt/slides/slide5.xml><?xml version="1.0" encoding="utf-8"?>
<p:sld xmlns:p="http://schemas.openxmlformats.org/presentationml/2006/main">
  <p:cSld>
    <p:bg>
      <p:bgPr>
        <a:solidFill xmlns:a="http://schemas.openxmlformats.org/drawingml/2006/main">
          <a:srgbClr val="F4F3EE"/>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49A5A749-FDF8-4E1C-9AAA-1A5CC024705F}"/>
              </a:ext>
            </a:extLst>
          </p:cNvPr>
          <p:cNvSpPr>
            <a:spLocks xmlns:a="http://schemas.openxmlformats.org/drawingml/2006/main" noGrp="1"/>
          </p:cNvSpPr>
          <p:nvPr/>
        </p:nvSpPr>
        <p:spPr>
          <a:xfrm xmlns:a="http://schemas.openxmlformats.org/drawingml/2006/main">
            <a:off x="609600" y="2857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75" b="1">
                <a:solidFill>
                  <a:srgbClr val="315F50"/>
                </a:solidFill>
                <a:latin typeface="Arial"/>
                <a:ea typeface="Arial"/>
                <a:cs typeface="Arial"/>
              </a:defRPr>
            </a:pPr>
            <a:r>
              <a:rPr sz="1275" b="1">
                <a:solidFill>
                  <a:srgbClr val="315F50"/>
                </a:solidFill>
                <a:latin typeface="Arial"/>
                <a:ea typeface="Arial"/>
                <a:cs typeface="Arial"/>
              </a:rPr>
              <a:t>JUNIPER SALON</a:t>
            </a:r>
          </a:p>
        </p:txBody>
      </p:sp>
      <p:sp>
        <p:nvSpPr>
          <p:cNvPr id="2" name="">
            <a:extLst xmlns:a="http://schemas.openxmlformats.org/drawingml/2006/main">
              <a:ext uri="{FF2B5EF4-FFF2-40B4-BE49-F238E27FC236}">
                <a16:creationId xmlns:a16="http://schemas.microsoft.com/office/drawing/2014/main" id="{F58C230F-7354-4913-BCFB-4A1A7E72D84D}"/>
              </a:ext>
            </a:extLst>
          </p:cNvPr>
          <p:cNvSpPr>
            <a:spLocks xmlns:a="http://schemas.openxmlformats.org/drawingml/2006/main" noGrp="1"/>
          </p:cNvSpPr>
          <p:nvPr/>
        </p:nvSpPr>
        <p:spPr>
          <a:xfrm xmlns:a="http://schemas.openxmlformats.org/drawingml/2006/main">
            <a:off x="11144250" y="28575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75" b="0">
                <a:solidFill>
                  <a:srgbClr val="687068"/>
                </a:solidFill>
                <a:latin typeface="Arial"/>
                <a:ea typeface="Arial"/>
                <a:cs typeface="Arial"/>
              </a:defRPr>
            </a:pPr>
            <a:r>
              <a:rPr sz="1275" b="0">
                <a:solidFill>
                  <a:srgbClr val="687068"/>
                </a:solidFill>
                <a:latin typeface="Arial"/>
                <a:ea typeface="Arial"/>
                <a:cs typeface="Arial"/>
              </a:rPr>
              <a:t>05</a:t>
            </a:r>
          </a:p>
        </p:txBody>
      </p:sp>
      <p:sp>
        <p:nvSpPr>
          <p:cNvPr id="3" name="">
            <a:extLst xmlns:a="http://schemas.openxmlformats.org/drawingml/2006/main">
              <a:ext uri="{FF2B5EF4-FFF2-40B4-BE49-F238E27FC236}">
                <a16:creationId xmlns:a16="http://schemas.microsoft.com/office/drawing/2014/main" id="{257369D5-BF25-4500-9355-23CB743AC3E8}"/>
              </a:ext>
            </a:extLst>
          </p:cNvPr>
          <p:cNvSpPr>
            <a:spLocks xmlns:a="http://schemas.openxmlformats.org/drawingml/2006/main" noGrp="1"/>
          </p:cNvSpPr>
          <p:nvPr/>
        </p:nvSpPr>
        <p:spPr>
          <a:xfrm xmlns:a="http://schemas.openxmlformats.org/drawingml/2006/main">
            <a:off x="609600" y="78105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75" b="0">
                <a:solidFill>
                  <a:srgbClr val="253B32"/>
                </a:solidFill>
                <a:latin typeface="Georgia"/>
                <a:ea typeface="Georgia"/>
                <a:cs typeface="Georgia"/>
              </a:defRPr>
            </a:pPr>
            <a:r>
              <a:rPr sz="3675" b="0">
                <a:solidFill>
                  <a:srgbClr val="253B32"/>
                </a:solidFill>
                <a:latin typeface="Georgia"/>
                <a:ea typeface="Georgia"/>
                <a:cs typeface="Georgia"/>
              </a:rPr>
              <a:t>A small pilot with Lena and Carla</a:t>
            </a:r>
          </a:p>
        </p:txBody>
      </p:sp>
      <p:sp>
        <p:nvSpPr>
          <p:cNvPr id="4" name="">
            <a:extLst xmlns:a="http://schemas.openxmlformats.org/drawingml/2006/main">
              <a:ext uri="{FF2B5EF4-FFF2-40B4-BE49-F238E27FC236}">
                <a16:creationId xmlns:a16="http://schemas.microsoft.com/office/drawing/2014/main" id="{E22C040F-E1D3-45BC-9DAA-A37136590CCD}"/>
              </a:ext>
            </a:extLst>
          </p:cNvPr>
          <p:cNvSpPr>
            <a:spLocks xmlns:a="http://schemas.openxmlformats.org/drawingml/2006/main" noGrp="1"/>
          </p:cNvSpPr>
          <p:nvPr/>
        </p:nvSpPr>
        <p:spPr>
          <a:xfrm xmlns:a="http://schemas.openxmlformats.org/drawingml/2006/main">
            <a:off x="609600" y="1790700"/>
            <a:ext cx="4286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1">
                <a:solidFill>
                  <a:srgbClr val="315F50"/>
                </a:solidFill>
                <a:latin typeface="Arial"/>
                <a:ea typeface="Arial"/>
                <a:cs typeface="Arial"/>
              </a:defRPr>
            </a:pPr>
            <a:r>
              <a:rPr sz="1875" b="1">
                <a:solidFill>
                  <a:srgbClr val="315F50"/>
                </a:solidFill>
                <a:latin typeface="Arial"/>
                <a:ea typeface="Arial"/>
                <a:cs typeface="Arial"/>
              </a:rPr>
              <a:t>Proposed scope</a:t>
            </a:r>
          </a:p>
        </p:txBody>
      </p:sp>
      <p:sp>
        <p:nvSpPr>
          <p:cNvPr id="5" name="">
            <a:extLst xmlns:a="http://schemas.openxmlformats.org/drawingml/2006/main">
              <a:ext uri="{FF2B5EF4-FFF2-40B4-BE49-F238E27FC236}">
                <a16:creationId xmlns:a16="http://schemas.microsoft.com/office/drawing/2014/main" id="{EFB8AF8B-1520-4FCB-B4D4-BAB990E766EA}"/>
              </a:ext>
            </a:extLst>
          </p:cNvPr>
          <p:cNvSpPr>
            <a:spLocks xmlns:a="http://schemas.openxmlformats.org/drawingml/2006/main" noGrp="1"/>
          </p:cNvSpPr>
          <p:nvPr/>
        </p:nvSpPr>
        <p:spPr>
          <a:xfrm xmlns:a="http://schemas.openxmlformats.org/drawingml/2006/main">
            <a:off x="609600" y="2305050"/>
            <a:ext cx="4572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5700" b="0">
                <a:solidFill>
                  <a:srgbClr val="315F50"/>
                </a:solidFill>
                <a:latin typeface="Georgia"/>
                <a:ea typeface="Georgia"/>
                <a:cs typeface="Georgia"/>
              </a:defRPr>
            </a:pPr>
            <a:r>
              <a:rPr sz="5700" b="0">
                <a:solidFill>
                  <a:srgbClr val="315F50"/>
                </a:solidFill>
                <a:latin typeface="Georgia"/>
                <a:ea typeface="Georgia"/>
                <a:cs typeface="Georgia"/>
              </a:rPr>
              <a:t>1 stylist</a:t>
            </a:r>
          </a:p>
        </p:txBody>
      </p:sp>
      <p:sp>
        <p:nvSpPr>
          <p:cNvPr id="6" name="">
            <a:extLst xmlns:a="http://schemas.openxmlformats.org/drawingml/2006/main">
              <a:ext uri="{FF2B5EF4-FFF2-40B4-BE49-F238E27FC236}">
                <a16:creationId xmlns:a16="http://schemas.microsoft.com/office/drawing/2014/main" id="{BB75A80D-3F69-4434-925F-03DE0B2C2E57}"/>
              </a:ext>
            </a:extLst>
          </p:cNvPr>
          <p:cNvSpPr>
            <a:spLocks xmlns:a="http://schemas.openxmlformats.org/drawingml/2006/main" noGrp="1"/>
          </p:cNvSpPr>
          <p:nvPr/>
        </p:nvSpPr>
        <p:spPr>
          <a:xfrm xmlns:a="http://schemas.openxmlformats.org/drawingml/2006/main">
            <a:off x="609600" y="3429000"/>
            <a:ext cx="4572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5700" b="0">
                <a:solidFill>
                  <a:srgbClr val="315F50"/>
                </a:solidFill>
                <a:latin typeface="Georgia"/>
                <a:ea typeface="Georgia"/>
                <a:cs typeface="Georgia"/>
              </a:defRPr>
            </a:pPr>
            <a:r>
              <a:rPr sz="5700" b="0">
                <a:solidFill>
                  <a:srgbClr val="315F50"/>
                </a:solidFill>
                <a:latin typeface="Georgia"/>
                <a:ea typeface="Georgia"/>
                <a:cs typeface="Georgia"/>
              </a:rPr>
              <a:t>1 week</a:t>
            </a:r>
          </a:p>
        </p:txBody>
      </p:sp>
      <p:sp>
        <p:nvSpPr>
          <p:cNvPr id="7" name="">
            <a:extLst xmlns:a="http://schemas.openxmlformats.org/drawingml/2006/main">
              <a:ext uri="{FF2B5EF4-FFF2-40B4-BE49-F238E27FC236}">
                <a16:creationId xmlns:a16="http://schemas.microsoft.com/office/drawing/2014/main" id="{F16BD95F-3A64-43DF-8D0E-6FF93BD261B0}"/>
              </a:ext>
            </a:extLst>
          </p:cNvPr>
          <p:cNvSpPr>
            <a:spLocks xmlns:a="http://schemas.openxmlformats.org/drawingml/2006/main" noGrp="1"/>
          </p:cNvSpPr>
          <p:nvPr/>
        </p:nvSpPr>
        <p:spPr>
          <a:xfrm xmlns:a="http://schemas.openxmlformats.org/drawingml/2006/main">
            <a:off x="609600" y="4819650"/>
            <a:ext cx="4381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253B32"/>
                </a:solidFill>
                <a:latin typeface="Arial"/>
                <a:ea typeface="Arial"/>
                <a:cs typeface="Arial"/>
              </a:defRPr>
            </a:pPr>
            <a:r>
              <a:rPr sz="2175" b="0">
                <a:solidFill>
                  <a:srgbClr val="253B32"/>
                </a:solidFill>
                <a:latin typeface="Arial"/>
                <a:ea typeface="Arial"/>
                <a:cs typeface="Arial"/>
              </a:rPr>
              <a:t>Same-day openings first</a:t>
            </a:r>
          </a:p>
        </p:txBody>
      </p:sp>
      <p:sp>
        <p:nvSpPr>
          <p:cNvPr id="8" name="">
            <a:extLst xmlns:a="http://schemas.openxmlformats.org/drawingml/2006/main">
              <a:ext uri="{FF2B5EF4-FFF2-40B4-BE49-F238E27FC236}">
                <a16:creationId xmlns:a16="http://schemas.microsoft.com/office/drawing/2014/main" id="{C4CA4E60-A495-4FE8-8C74-07FA392636BD}"/>
              </a:ext>
            </a:extLst>
          </p:cNvPr>
          <p:cNvSpPr>
            <a:spLocks xmlns:a="http://schemas.openxmlformats.org/drawingml/2006/main" noGrp="1"/>
          </p:cNvSpPr>
          <p:nvPr/>
        </p:nvSpPr>
        <p:spPr>
          <a:xfrm xmlns:a="http://schemas.openxmlformats.org/drawingml/2006/main">
            <a:off x="609600" y="5553075"/>
            <a:ext cx="4572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253B32"/>
                </a:solidFill>
                <a:latin typeface="Arial"/>
                <a:ea typeface="Arial"/>
                <a:cs typeface="Arial"/>
              </a:defRPr>
            </a:pPr>
            <a:r>
              <a:rPr sz="1800" b="0">
                <a:solidFill>
                  <a:srgbClr val="253B32"/>
                </a:solidFill>
                <a:latin typeface="Arial"/>
                <a:ea typeface="Arial"/>
                <a:cs typeface="Arial"/>
              </a:rPr>
              <a:t>Measure openings filled, time to fill,</a:t>
            </a:r>
          </a:p>
          <a:p xmlns:a="http://schemas.openxmlformats.org/drawingml/2006/main">
            <a:pPr>
              <a:defRPr sz="1800" b="0">
                <a:solidFill>
                  <a:srgbClr val="253B32"/>
                </a:solidFill>
                <a:latin typeface="Arial"/>
                <a:ea typeface="Arial"/>
                <a:cs typeface="Arial"/>
              </a:defRPr>
            </a:pPr>
            <a:r>
              <a:rPr sz="1800" b="0">
                <a:solidFill>
                  <a:srgbClr val="253B32"/>
                </a:solidFill>
                <a:latin typeface="Arial"/>
                <a:ea typeface="Arial"/>
                <a:cs typeface="Arial"/>
              </a:rPr>
              <a:t>staff follow-ups and booking conflicts.</a:t>
            </a:r>
          </a:p>
        </p:txBody>
      </p:sp>
      <p:sp>
        <p:nvSpPr>
          <p:cNvPr id="9" name="">
            <a:extLst xmlns:a="http://schemas.openxmlformats.org/drawingml/2006/main">
              <a:ext uri="{FF2B5EF4-FFF2-40B4-BE49-F238E27FC236}">
                <a16:creationId xmlns:a16="http://schemas.microsoft.com/office/drawing/2014/main" id="{B3297B8F-B092-408E-8DF9-AE3A8A8D45F8}"/>
              </a:ext>
            </a:extLst>
          </p:cNvPr>
          <p:cNvSpPr>
            <a:spLocks xmlns:a="http://schemas.openxmlformats.org/drawingml/2006/main" noGrp="1"/>
          </p:cNvSpPr>
          <p:nvPr/>
        </p:nvSpPr>
        <p:spPr>
          <a:xfrm xmlns:a="http://schemas.openxmlformats.org/drawingml/2006/main">
            <a:off x="6115050" y="1790700"/>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315F50"/>
                </a:solidFill>
                <a:latin typeface="Arial"/>
                <a:ea typeface="Arial"/>
                <a:cs typeface="Arial"/>
              </a:defRPr>
            </a:pPr>
            <a:r>
              <a:rPr sz="2175" b="1">
                <a:solidFill>
                  <a:srgbClr val="315F50"/>
                </a:solidFill>
                <a:latin typeface="Arial"/>
                <a:ea typeface="Arial"/>
                <a:cs typeface="Arial"/>
              </a:rPr>
              <a:t>Before any live bookings</a:t>
            </a:r>
          </a:p>
        </p:txBody>
      </p:sp>
      <p:sp>
        <p:nvSpPr>
          <p:cNvPr id="10" name="">
            <a:extLst xmlns:a="http://schemas.openxmlformats.org/drawingml/2006/main">
              <a:ext uri="{FF2B5EF4-FFF2-40B4-BE49-F238E27FC236}">
                <a16:creationId xmlns:a16="http://schemas.microsoft.com/office/drawing/2014/main" id="{0DE8FB34-9D6D-4E0E-81D8-8C6EBA1EADD4}"/>
              </a:ext>
            </a:extLst>
          </p:cNvPr>
          <p:cNvSpPr>
            <a:spLocks xmlns:a="http://schemas.openxmlformats.org/drawingml/2006/main" noGrp="1"/>
          </p:cNvSpPr>
          <p:nvPr/>
        </p:nvSpPr>
        <p:spPr>
          <a:xfrm xmlns:a="http://schemas.openxmlformats.org/drawingml/2006/main">
            <a:off x="6115050" y="2419350"/>
            <a:ext cx="53816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0">
                <a:solidFill>
                  <a:srgbClr val="253B32"/>
                </a:solidFill>
                <a:latin typeface="Arial"/>
                <a:ea typeface="Arial"/>
                <a:cs typeface="Arial"/>
              </a:defRPr>
            </a:pPr>
            <a:r>
              <a:rPr sz="2100" b="0">
                <a:solidFill>
                  <a:srgbClr val="253B32"/>
                </a:solidFill>
                <a:latin typeface="Arial"/>
                <a:ea typeface="Arial"/>
                <a:cs typeface="Arial"/>
              </a:rPr>
              <a:t>Rehearse late replies, timeouts and</a:t>
            </a:r>
          </a:p>
          <a:p xmlns:a="http://schemas.openxmlformats.org/drawingml/2006/main">
            <a:pPr>
              <a:defRPr sz="2100" b="0">
                <a:solidFill>
                  <a:srgbClr val="253B32"/>
                </a:solidFill>
                <a:latin typeface="Arial"/>
                <a:ea typeface="Arial"/>
                <a:cs typeface="Arial"/>
              </a:defRPr>
            </a:pPr>
            <a:r>
              <a:rPr sz="2100" b="0">
                <a:solidFill>
                  <a:srgbClr val="253B32"/>
                </a:solidFill>
                <a:latin typeface="Arial"/>
                <a:ea typeface="Arial"/>
                <a:cs typeface="Arial"/>
              </a:rPr>
              <a:t>an exhausted waitlist together.</a:t>
            </a:r>
          </a:p>
        </p:txBody>
      </p:sp>
      <p:sp>
        <p:nvSpPr>
          <p:cNvPr id="11" name="">
            <a:extLst xmlns:a="http://schemas.openxmlformats.org/drawingml/2006/main">
              <a:ext uri="{FF2B5EF4-FFF2-40B4-BE49-F238E27FC236}">
                <a16:creationId xmlns:a16="http://schemas.microsoft.com/office/drawing/2014/main" id="{3AEF8373-29E8-4A0C-919D-A24C6C49E089}"/>
              </a:ext>
            </a:extLst>
          </p:cNvPr>
          <p:cNvSpPr>
            <a:spLocks xmlns:a="http://schemas.openxmlformats.org/drawingml/2006/main" noGrp="1"/>
          </p:cNvSpPr>
          <p:nvPr/>
        </p:nvSpPr>
        <p:spPr>
          <a:xfrm xmlns:a="http://schemas.openxmlformats.org/drawingml/2006/main">
            <a:off x="6115050" y="3381375"/>
            <a:ext cx="538162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253B32"/>
                </a:solidFill>
                <a:latin typeface="Arial"/>
                <a:ea typeface="Arial"/>
                <a:cs typeface="Arial"/>
              </a:defRPr>
            </a:pPr>
            <a:r>
              <a:rPr sz="2025" b="0">
                <a:solidFill>
                  <a:srgbClr val="253B32"/>
                </a:solidFill>
                <a:latin typeface="Arial"/>
                <a:ea typeface="Arial"/>
                <a:cs typeface="Arial"/>
              </a:rPr>
              <a:t>Connect Square and recheck availability</a:t>
            </a:r>
          </a:p>
          <a:p xmlns:a="http://schemas.openxmlformats.org/drawingml/2006/main">
            <a:pPr>
              <a:defRPr sz="2025" b="0">
                <a:solidFill>
                  <a:srgbClr val="253B32"/>
                </a:solidFill>
                <a:latin typeface="Arial"/>
                <a:ea typeface="Arial"/>
                <a:cs typeface="Arial"/>
              </a:defRPr>
            </a:pPr>
            <a:r>
              <a:rPr sz="2025" b="0">
                <a:solidFill>
                  <a:srgbClr val="253B32"/>
                </a:solidFill>
                <a:latin typeface="Arial"/>
                <a:ea typeface="Arial"/>
                <a:cs typeface="Arial"/>
              </a:rPr>
              <a:t>before booking. Protect client links</a:t>
            </a:r>
          </a:p>
          <a:p xmlns:a="http://schemas.openxmlformats.org/drawingml/2006/main">
            <a:pPr>
              <a:defRPr sz="2025" b="0">
                <a:solidFill>
                  <a:srgbClr val="253B32"/>
                </a:solidFill>
                <a:latin typeface="Arial"/>
                <a:ea typeface="Arial"/>
                <a:cs typeface="Arial"/>
              </a:defRPr>
            </a:pPr>
            <a:r>
              <a:rPr sz="2025" b="0">
                <a:solidFill>
                  <a:srgbClr val="253B32"/>
                </a:solidFill>
                <a:latin typeface="Arial"/>
                <a:ea typeface="Arial"/>
                <a:cs typeface="Arial"/>
              </a:rPr>
              <a:t>and confirm SMS delivery and costs.</a:t>
            </a:r>
          </a:p>
        </p:txBody>
      </p:sp>
      <p:sp>
        <p:nvSpPr>
          <p:cNvPr id="12" name="">
            <a:extLst xmlns:a="http://schemas.openxmlformats.org/drawingml/2006/main">
              <a:ext uri="{FF2B5EF4-FFF2-40B4-BE49-F238E27FC236}">
                <a16:creationId xmlns:a16="http://schemas.microsoft.com/office/drawing/2014/main" id="{AE4F0F8E-5619-493B-9E7B-DB42247F1634}"/>
              </a:ext>
            </a:extLst>
          </p:cNvPr>
          <p:cNvSpPr>
            <a:spLocks xmlns:a="http://schemas.openxmlformats.org/drawingml/2006/main" noGrp="1"/>
          </p:cNvSpPr>
          <p:nvPr/>
        </p:nvSpPr>
        <p:spPr>
          <a:xfrm xmlns:a="http://schemas.openxmlformats.org/drawingml/2006/main">
            <a:off x="6115050" y="4772025"/>
            <a:ext cx="53816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0">
                <a:solidFill>
                  <a:srgbClr val="253B32"/>
                </a:solidFill>
                <a:latin typeface="Arial"/>
                <a:ea typeface="Arial"/>
                <a:cs typeface="Arial"/>
              </a:defRPr>
            </a:pPr>
            <a:r>
              <a:rPr sz="2100" b="0">
                <a:solidFill>
                  <a:srgbClr val="253B32"/>
                </a:solidFill>
                <a:latin typeface="Arial"/>
                <a:ea typeface="Arial"/>
                <a:cs typeface="Arial"/>
              </a:rPr>
              <a:t>Agree on next-day response timing</a:t>
            </a:r>
          </a:p>
          <a:p xmlns:a="http://schemas.openxmlformats.org/drawingml/2006/main">
            <a:pPr>
              <a:defRPr sz="2100" b="0">
                <a:solidFill>
                  <a:srgbClr val="253B32"/>
                </a:solidFill>
                <a:latin typeface="Arial"/>
                <a:ea typeface="Arial"/>
                <a:cs typeface="Arial"/>
              </a:defRPr>
            </a:pPr>
            <a:r>
              <a:rPr sz="2100" b="0">
                <a:solidFill>
                  <a:srgbClr val="253B32"/>
                </a:solidFill>
                <a:latin typeface="Arial"/>
                <a:ea typeface="Arial"/>
                <a:cs typeface="Arial"/>
              </a:rPr>
              <a:t>and who handles failures.</a:t>
            </a:r>
          </a:p>
        </p:txBody>
      </p:sp>
      <p:sp>
        <p:nvSpPr>
          <p:cNvPr id="13" name="">
            <a:extLst xmlns:a="http://schemas.openxmlformats.org/drawingml/2006/main">
              <a:ext uri="{FF2B5EF4-FFF2-40B4-BE49-F238E27FC236}">
                <a16:creationId xmlns:a16="http://schemas.microsoft.com/office/drawing/2014/main" id="{460732CF-B12C-421D-BA58-CA813CA350C5}"/>
              </a:ext>
            </a:extLst>
          </p:cNvPr>
          <p:cNvSpPr>
            <a:spLocks xmlns:a="http://schemas.openxmlformats.org/drawingml/2006/main" noGrp="1"/>
          </p:cNvSpPr>
          <p:nvPr/>
        </p:nvSpPr>
        <p:spPr>
          <a:xfrm xmlns:a="http://schemas.openxmlformats.org/drawingml/2006/main">
            <a:off x="6115050" y="5953125"/>
            <a:ext cx="53816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687068"/>
                </a:solidFill>
                <a:latin typeface="Arial"/>
                <a:ea typeface="Arial"/>
                <a:cs typeface="Arial"/>
              </a:defRPr>
            </a:pPr>
            <a:r>
              <a:rPr sz="1725" b="0">
                <a:solidFill>
                  <a:srgbClr val="687068"/>
                </a:solidFill>
                <a:latin typeface="Arial"/>
                <a:ea typeface="Arial"/>
                <a:cs typeface="Arial"/>
              </a:rPr>
              <a:t>No live integrations or measured results yet.</a:t>
            </a:r>
          </a:p>
        </p:txBody>
      </p:sp>
    </p:spTree>
    <p:extLst>
      <p:ext uri="{BB962C8B-B14F-4D97-AF65-F5344CB8AC3E}">
        <p14:creationId xmlns:p14="http://schemas.microsoft.com/office/powerpoint/2010/main" val="140541769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2026-10-07T04:37:22.3780000Z</dcterms:created>
  <dcterms:modified xsi:type="dcterms:W3CDTF">2026-10-07T04:37:22.3780000Z</dcterms:modified>
</coreProperties>
</file>